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3839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03504"/>
            <a:ext cx="4572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269FF"/>
                </a:solidFill>
                <a:latin typeface="Avenir Next"/>
              </a:rPr>
              <a:t>SUEDE DESIGNATHON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6766560" cy="2331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7F4FA"/>
                </a:solidFill>
                <a:latin typeface="Avenir Next"/>
              </a:rPr>
              <a:t>WIN
</a:t>
            </a:r>
            <a:r>
              <a:rPr sz="4200" b="1">
                <a:solidFill>
                  <a:srgbClr val="F7F4FA"/>
                </a:solidFill>
                <a:latin typeface="Avenir Next"/>
              </a:rPr>
              <a:t>THE
</a:t>
            </a:r>
            <a:r>
              <a:rPr sz="4200" b="1">
                <a:solidFill>
                  <a:srgbClr val="C9F174"/>
                </a:solidFill>
                <a:latin typeface="Avenir Next"/>
              </a:rPr>
              <a:t>WEEKEND.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31920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7AEC4"/>
                </a:solidFill>
                <a:latin typeface="Avenir Next"/>
              </a:rPr>
              <a:t>A competition operating plan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15968"/>
            <a:ext cx="658368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7F4FA"/>
                </a:solidFill>
                <a:latin typeface="Avenir Next"/>
              </a:rPr>
              <a:t>Ethan · Darius · CC · Akari · Chloe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102352"/>
            <a:ext cx="1965960" cy="310896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120640"/>
            <a:ext cx="19659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PROPOSAL · 1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576072"/>
            <a:ext cx="3017520" cy="12070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D0A12"/>
                </a:solidFill>
                <a:latin typeface="Avenir Nex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1673352"/>
            <a:ext cx="2971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D0A12"/>
                </a:solidFill>
                <a:latin typeface="Avenir Next"/>
              </a:rPr>
              <a:t>days to prepare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41664" y="2377440"/>
            <a:ext cx="2670048" cy="32004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2788920"/>
            <a:ext cx="3017520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840480"/>
            <a:ext cx="29718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D0A12"/>
                </a:solidFill>
                <a:latin typeface="Avenir Next"/>
              </a:rPr>
              <a:t>people · maximum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852160"/>
            <a:ext cx="2971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D0A12"/>
                </a:solidFill>
                <a:latin typeface="Avenir Next"/>
              </a:rPr>
              <a:t>One team. One loop. One 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THE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This is a 50-hour decision 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01568" cy="1874519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73152" cy="1874519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819656"/>
            <a:ext cx="28986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269FF"/>
                </a:solidFill>
                <a:latin typeface="Avenir Next"/>
              </a:rPr>
              <a:t>FRI 4 SEP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21408"/>
            <a:ext cx="2898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5–8pm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24328"/>
            <a:ext cx="2898648" cy="685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Brief, rules, research, and concept lock. Leave with one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01568" cy="1874519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73152" cy="1874519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19656"/>
            <a:ext cx="28986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9DCE6"/>
                </a:solidFill>
                <a:latin typeface="Avenir Next"/>
              </a:rPr>
              <a:t>SAT 5 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121408"/>
            <a:ext cx="2898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8am–8pm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624328"/>
            <a:ext cx="2898648" cy="685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Prove the core loop, build it, test it, then freeze scope by 5pm.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600200"/>
            <a:ext cx="3401568" cy="1874519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1600200"/>
            <a:ext cx="73152" cy="1874519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1" y="1819656"/>
            <a:ext cx="28986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F174"/>
                </a:solidFill>
                <a:latin typeface="Avenir Next"/>
              </a:rPr>
              <a:t>SUN 6 SEP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121408"/>
            <a:ext cx="2898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8am–8pm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2624328"/>
            <a:ext cx="2898648" cy="685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Make the story undeniable. Submit early. Rehearse until calm.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950208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968496"/>
            <a:ext cx="11155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3968496"/>
            <a:ext cx="9144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In person · Wilkinson Building G04 · USYD · university students · teams of 3–5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700016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718303"/>
            <a:ext cx="11155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UNKNOWN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4718304"/>
            <a:ext cx="9326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2026 brief · rubric weights · pitch length · submission deadline · AI/IP rules · prizes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5687568"/>
            <a:ext cx="10607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3B4FF"/>
                </a:solidFill>
                <a:latin typeface="Avenir Next"/>
              </a:rPr>
              <a:t>Rule: prepare the machine now. Do not pre-build the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WHAT PAST WINNERS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The winning shape is narrow, native, and retellable.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73152" cy="2971800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92224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269FF"/>
                </a:solidFill>
                <a:latin typeface="Avenir Next"/>
              </a:rPr>
              <a:t>2025 · 1ST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93976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HOT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96896"/>
            <a:ext cx="2926080" cy="1783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A redesigned comment experience under videos: one familiar behaviour, three prompts, a clear interaction, and no new destination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72768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572768"/>
            <a:ext cx="73152" cy="2971800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792224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F6F"/>
                </a:solidFill>
                <a:latin typeface="Avenir Next"/>
              </a:rPr>
              <a:t>2025 · 2ND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93976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LLAMALERT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596896"/>
            <a:ext cx="2926080" cy="1783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A memorable llama flags misinformation, explains why, then turns learning into a tiny game. Instantly repeatable.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572768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572768"/>
            <a:ext cx="73152" cy="2971800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792224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9DCE6"/>
                </a:solidFill>
                <a:latin typeface="Avenir Next"/>
              </a:rPr>
              <a:t>2025 · 3RD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093976"/>
            <a:ext cx="29260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TOUCAN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596896"/>
            <a:ext cx="2926080" cy="1783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A lightweight overlay at one moment of need. The team deliberately narrowed to learning, awareness, and convenience.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084064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269FF"/>
                </a:solidFill>
                <a:latin typeface="Avenir Next"/>
              </a:rPr>
              <a:t>INFERENCE  </a:t>
            </a:r>
            <a:r>
              <a:rPr sz="1800" b="1">
                <a:solidFill>
                  <a:srgbClr val="F7F4FA"/>
                </a:solidFill>
                <a:latin typeface="Avenir Next"/>
              </a:rPr>
              <a:t>The judges rewarded a precise intervention in an existing routine — backed by proof and presented as a story.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925312"/>
            <a:ext cx="10424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7F6F"/>
                </a:solidFill>
                <a:latin typeface="Avenir Next"/>
              </a:rPr>
              <a:t>Not another all-in-one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OUR DOCTRINE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One user. One moment. One hero loop. One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82496"/>
            <a:ext cx="1965960" cy="312724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269FF"/>
                </a:solidFill>
                <a:latin typeface="Avenir Nex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7F4FA"/>
                </a:solidFill>
                <a:latin typeface="Avenir Next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07792"/>
            <a:ext cx="16002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Specific — never ‘everyone’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98648"/>
            <a:ext cx="25603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7AEC4"/>
                </a:solidFill>
                <a:latin typeface="Avenir Next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1682496"/>
            <a:ext cx="1965960" cy="312724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74519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DCE6"/>
                </a:solidFill>
                <a:latin typeface="Avenir Nex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35915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7F4FA"/>
                </a:solidFill>
                <a:latin typeface="Avenir Next"/>
              </a:rPr>
              <a:t>MOMENT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907792"/>
            <a:ext cx="16002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A real trigger with 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898648"/>
            <a:ext cx="25603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7AEC4"/>
                </a:solidFill>
                <a:latin typeface="Avenir Next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682496"/>
            <a:ext cx="1965960" cy="312724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1874519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F174"/>
                </a:solidFill>
                <a:latin typeface="Avenir Nex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5915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7F4FA"/>
                </a:solidFill>
                <a:latin typeface="Avenir Next"/>
              </a:rPr>
              <a:t>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907792"/>
            <a:ext cx="16002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Trigger → action → payoff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898648"/>
            <a:ext cx="25603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7AEC4"/>
                </a:solidFill>
                <a:latin typeface="Avenir Next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7" y="1682496"/>
            <a:ext cx="1965960" cy="312724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7" y="1874519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F6F"/>
                </a:solidFill>
                <a:latin typeface="Avenir Nex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235915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7F4FA"/>
                </a:solidFill>
                <a:latin typeface="Avenir Next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2907792"/>
            <a:ext cx="16002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Observed behaviour, not vibes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898648"/>
            <a:ext cx="25603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B7AEC4"/>
                </a:solidFill>
                <a:latin typeface="Avenir Next"/>
              </a:rPr>
              <a:t>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682496"/>
            <a:ext cx="1965960" cy="312724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874519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3B4FF"/>
                </a:solidFill>
                <a:latin typeface="Avenir Nex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359152"/>
            <a:ext cx="1600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7F4FA"/>
                </a:solidFill>
                <a:latin typeface="Avenir Next"/>
              </a:rPr>
              <a:t>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907792"/>
            <a:ext cx="160020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Repeatable after one sentence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248656"/>
            <a:ext cx="10927080" cy="713232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04104"/>
            <a:ext cx="104241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D0A12"/>
                </a:solidFill>
                <a:latin typeface="Avenir Next"/>
              </a:rPr>
              <a:t>If the idea needs a paragraph before the demo, it is not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CONCEPT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No concept reaches high-fi below 20 / 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1572768"/>
            <a:ext cx="19385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4FA"/>
                </a:solidFill>
                <a:latin typeface="Avenir Nex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591056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specific + evidenced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33872" y="1536192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1636776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93992" y="1536192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636776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1536192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636776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4232" y="1536192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636776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1536192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2" y="1636776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432304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DCE6"/>
                </a:solidFill>
                <a:latin typeface="Avenir Next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2377440"/>
            <a:ext cx="19385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4FA"/>
                </a:solidFill>
                <a:latin typeface="Avenir Next"/>
              </a:rPr>
              <a:t>Effectiveness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2395728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changes behaviour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2340864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3872" y="2441448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93992" y="2340864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2441448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4112" y="2340864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2" y="2441448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14232" y="2340864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4232" y="2441448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74352" y="2340864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2441448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236976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F174"/>
                </a:solidFill>
                <a:latin typeface="Avenir Next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" y="3182112"/>
            <a:ext cx="19385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4FA"/>
                </a:solidFill>
                <a:latin typeface="Avenir Next"/>
              </a:rPr>
              <a:t>Innovation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3200400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distinct mechanism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33872" y="3145536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3872" y="3246120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93992" y="3145536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3246120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54112" y="3145536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54112" y="3246120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14232" y="3145536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4232" y="3246120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74352" y="3145536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74352" y="3246120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041648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F6F"/>
                </a:solidFill>
                <a:latin typeface="Avenir Next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" y="3986784"/>
            <a:ext cx="19385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4FA"/>
                </a:solidFill>
                <a:latin typeface="Avenir Next"/>
              </a:rPr>
              <a:t>Craft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2112" y="40050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excellent in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33872" y="3950208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3872" y="4050792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93992" y="3950208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93992" y="4050792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54112" y="3950208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54112" y="4050792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14232" y="3950208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14232" y="4050792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74352" y="3950208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74352" y="4050792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846320"/>
            <a:ext cx="3200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3B4FF"/>
                </a:solidFill>
                <a:latin typeface="Avenir Next"/>
              </a:rPr>
              <a:t>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4791456"/>
            <a:ext cx="19385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F4FA"/>
                </a:solidFill>
                <a:latin typeface="Avenir Next"/>
              </a:rPr>
              <a:t>Story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82112" y="4809744"/>
            <a:ext cx="1965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instant recall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33872" y="4754880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33872" y="4855464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93992" y="4754880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3992" y="4855464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54112" y="4754880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54112" y="4855464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14232" y="4754880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261F32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14232" y="4855464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7AEC4"/>
                </a:solidFill>
                <a:latin typeface="Avenir Next"/>
              </a:rPr>
              <a:t>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74352" y="4754880"/>
            <a:ext cx="603504" cy="512064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74352" y="4855464"/>
            <a:ext cx="6035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8368" y="5788152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5806440"/>
            <a:ext cx="15727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HISTORIC RUBRIC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32304" y="5788152"/>
            <a:ext cx="88239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SUEDE 2024 scored visual communication, problem, solution, innovation, and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FIVE OWNERS · ONE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Clear accountability beats polite overlap.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91440" cy="658368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45920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269FF"/>
                </a:solidFill>
                <a:latin typeface="Avenir Next"/>
              </a:rPr>
              <a:t>ETHAN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63677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CAPTAIN /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636776"/>
            <a:ext cx="6080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brief · scope · decisions · 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377440"/>
            <a:ext cx="91440" cy="658368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42032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9DCE6"/>
                </a:solidFill>
                <a:latin typeface="Avenir Next"/>
              </a:rPr>
              <a:t>DARIUS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32888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RESEARCH /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32888"/>
            <a:ext cx="6080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interviews · tests ·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73552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73552"/>
            <a:ext cx="91440" cy="658368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38144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F174"/>
                </a:solidFill>
                <a:latin typeface="Avenir Next"/>
              </a:rPr>
              <a:t>CC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429000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UX / 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429000"/>
            <a:ext cx="6080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flow · states · prototype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69664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169664"/>
            <a:ext cx="91440" cy="65836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34256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7F6F"/>
                </a:solidFill>
                <a:latin typeface="Avenir Next"/>
              </a:rPr>
              <a:t>AKARI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325112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VISUAL / 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325112"/>
            <a:ext cx="6080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system · craft · motion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65776"/>
            <a:ext cx="10927080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065776"/>
            <a:ext cx="91440" cy="658368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230368"/>
            <a:ext cx="12344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3B4FF"/>
                </a:solidFill>
                <a:latin typeface="Avenir Next"/>
              </a:rPr>
              <a:t>CHLOE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221224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STORY / SUBMISSION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221224"/>
            <a:ext cx="6080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deck · QA · backups · timing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99048"/>
            <a:ext cx="10607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7AEC4"/>
                </a:solidFill>
                <a:latin typeface="Avenir Next"/>
              </a:rPr>
              <a:t>Swap names after a 20-minute skills audit — keep these five ownership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1–3 SEPTEMBER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Prepare the operating system — legally.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517904"/>
            <a:ext cx="3410712" cy="440740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" y="1517904"/>
            <a:ext cx="73152" cy="4407408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29077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269FF"/>
                </a:solidFill>
                <a:latin typeface="Avenir Next"/>
              </a:rPr>
              <a:t>TUE · ALIGN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39112"/>
            <a:ext cx="290779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Register + assign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542032"/>
            <a:ext cx="2907791" cy="3218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• confirm 5 registrations
• finalise role owners
• shared Figma + drive
• empty research/deck templates
• ask organisers 4 rule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17904"/>
            <a:ext cx="3410712" cy="440740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517904"/>
            <a:ext cx="73152" cy="4407408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737360"/>
            <a:ext cx="29077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9DCE6"/>
                </a:solidFill>
                <a:latin typeface="Avenir Next"/>
              </a:rPr>
              <a:t>WED · REHEARSE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0779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Run the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542032"/>
            <a:ext cx="2907791" cy="3218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• 90-minute neutral mini-sprint
• concept scorecard drill
• five-minute interview
• lo-fi loop
• 60-second pitch
• test file 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517904"/>
            <a:ext cx="3410712" cy="440740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1517904"/>
            <a:ext cx="73152" cy="4407408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1737360"/>
            <a:ext cx="29077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C9F174"/>
                </a:solidFill>
                <a:latin typeface="Avenir Next"/>
              </a:rPr>
              <a:t>THU · DE-RISK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2039112"/>
            <a:ext cx="290779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Lower friction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542032"/>
            <a:ext cx="2907791" cy="3218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• pack + charge everything
• fonts/tools available offline
• travel + 4:15pm arrival
• backup file system
• stop heavy work by 9pm
• sleep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FRIDAY · UNDERSTAND + 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Concept lock within 90 minutes of the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90472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269FF"/>
                </a:solidFill>
                <a:latin typeface="Avenir Next"/>
              </a:rPr>
              <a:t>5:00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481328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417320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exact brief · rules ·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9DCE6"/>
                </a:solidFill>
                <a:latin typeface="Avenir Next"/>
              </a:rPr>
              <a:t>5:30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231136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167128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67128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user · behaviour · constraint ·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90088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9F174"/>
                </a:solidFill>
                <a:latin typeface="Avenir Next"/>
              </a:rPr>
              <a:t>5:45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980944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2916936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DIVERGE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916936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six ideas each → cluster to three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39896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7F6F"/>
                </a:solidFill>
                <a:latin typeface="Avenir Next"/>
              </a:rPr>
              <a:t>6:10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730752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3666744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666744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kill weakly testable + feature-heavy ideas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89704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3B4FF"/>
                </a:solidFill>
                <a:latin typeface="Avenir Next"/>
              </a:rPr>
              <a:t>6:30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4480560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4416552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TALK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4416552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five rapid user conversations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239512"/>
            <a:ext cx="6583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269FF"/>
                </a:solidFill>
                <a:latin typeface="Avenir Next"/>
              </a:rPr>
              <a:t>7:25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5230368"/>
            <a:ext cx="137160" cy="137160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166359"/>
            <a:ext cx="12344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7F4FA"/>
                </a:solidFill>
                <a:latin typeface="Avenir Next"/>
              </a:rPr>
              <a:t>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5166359"/>
            <a:ext cx="694944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7AEC4"/>
                </a:solidFill>
                <a:latin typeface="Avenir Next"/>
              </a:rPr>
              <a:t>one line · one loop · one direction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96528" y="4709160"/>
            <a:ext cx="2377440" cy="1170432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7696" y="4928616"/>
            <a:ext cx="193852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FRIDAY EXIT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88552" y="5230368"/>
            <a:ext cx="196596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D0A12"/>
                </a:solidFill>
                <a:latin typeface="Avenir Next"/>
              </a:rPr>
              <a:t>everyone says the
same one-line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SATURDAY · PROVE +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Test low-fi early. Freeze features at 5pm.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09344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269FF"/>
                </a:solidFill>
                <a:latin typeface="Avenir Next"/>
              </a:rPr>
              <a:t>08:00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5" y="1600200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91056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current journey + 5–7 frame hero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40864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505456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DCE6"/>
                </a:solidFill>
                <a:latin typeface="Avenir Next"/>
              </a:rPr>
              <a:t>09:30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5" y="2496312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LOW-FI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87168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clickable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36976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01568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F174"/>
                </a:solidFill>
                <a:latin typeface="Avenir Next"/>
              </a:rPr>
              <a:t>10:30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339242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83280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3 users · observe, don’t explain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33087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297679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F6F"/>
                </a:solidFill>
                <a:latin typeface="Avenir Next"/>
              </a:rPr>
              <a:t>11:15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288536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MENTOR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79392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problem / solution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29200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93792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3B4FF"/>
                </a:solidFill>
                <a:latin typeface="Avenir Next"/>
              </a:rPr>
              <a:t>12:00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2495" y="51846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75504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mid/high-fi + story in parallel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1444752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1609344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A269FF"/>
                </a:solidFill>
                <a:latin typeface="Avenir Next"/>
              </a:rPr>
              <a:t>14:00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1600200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TEST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1591056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comprehension + task success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340864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2505456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DCE6"/>
                </a:solidFill>
                <a:latin typeface="Avenir Next"/>
              </a:rPr>
              <a:t>15:30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496312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POLISH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87168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trust · error · accessibility state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236976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401568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9F174"/>
                </a:solidFill>
                <a:latin typeface="Avenir Next"/>
              </a:rPr>
              <a:t>17:00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488" y="339242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FREEZE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383280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no new scope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4133087"/>
            <a:ext cx="5266944" cy="658368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4297679"/>
            <a:ext cx="713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7F6F"/>
                </a:solidFill>
                <a:latin typeface="Avenir Next"/>
              </a:rPr>
              <a:t>18:15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4288536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7F4FA"/>
                </a:solidFill>
                <a:latin typeface="Avenir Next"/>
              </a:rPr>
              <a:t>PITCH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279392"/>
            <a:ext cx="287121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B7AEC4"/>
                </a:solidFill>
                <a:latin typeface="Avenir Next"/>
              </a:rPr>
              <a:t>timed · brutal critique · backup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080760"/>
            <a:ext cx="10881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7F4FA"/>
                </a:solidFill>
                <a:latin typeface="Avenir Next"/>
              </a:rPr>
              <a:t>Saturday exit: a stranger completes the loop, explains the value, and remembers the mechanism.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SUNDAY · MAKE IT UNDENIABLE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Submission safety first. Polish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08760"/>
            <a:ext cx="3456432" cy="1828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28216"/>
            <a:ext cx="295351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269FF"/>
                </a:solidFill>
                <a:latin typeface="Avenir Next"/>
              </a:rPr>
              <a:t>08:00–10:30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7"/>
            <a:ext cx="295351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STABILISE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32888"/>
            <a:ext cx="2953511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Fresh-eyes QA. Finish the deck and submission copy from the same 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56432" cy="1828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728216"/>
            <a:ext cx="295351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7F6F"/>
                </a:solidFill>
                <a:latin typeface="Avenir Next"/>
              </a:rPr>
              <a:t>10:30–12:30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7"/>
            <a:ext cx="295351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ATTACK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2953511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Ask a mentor: ‘Why would this not advance?’ Fix only decisive objections.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08760"/>
            <a:ext cx="3456432" cy="182880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508760"/>
            <a:ext cx="73152" cy="1828800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28216"/>
            <a:ext cx="295351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9DCE6"/>
                </a:solidFill>
                <a:latin typeface="Avenir Next"/>
              </a:rPr>
              <a:t>12:30 ONWARD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29967"/>
            <a:ext cx="2953511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REHEARSE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32888"/>
            <a:ext cx="2953511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7AEC4"/>
                </a:solidFill>
                <a:latin typeface="Avenir Next"/>
              </a:rPr>
              <a:t>Create a submittable checkpoint, then rehearse both 3- and 5-minute versions.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813048"/>
            <a:ext cx="10991088" cy="1261872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4" y="4114800"/>
            <a:ext cx="1005840" cy="310896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33087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-90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096512"/>
            <a:ext cx="88696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7F4FA"/>
                </a:solidFill>
                <a:latin typeface="Avenir Next"/>
              </a:rPr>
              <a:t>A complete, tested submission exists before the official deadline.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4544568"/>
            <a:ext cx="886968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Links work in incognito · assets disclosed · backup video on two devices · confirmation captured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87568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3B4FF"/>
                </a:solidFill>
                <a:latin typeface="Avenir Next"/>
              </a:rPr>
              <a:t>After submission: freeze → hydrate → reset → present.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THE THREE-MINUTE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Demo the changed behaviour — not a feature tour.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A269FF"/>
                </a:solidFill>
                <a:latin typeface="Avenir Next"/>
              </a:rPr>
              <a:t>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HUMAN MOMENT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put the judge inside the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627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7627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69DCE6"/>
                </a:solidFill>
                <a:latin typeface="Avenir Next"/>
              </a:rPr>
              <a:t>0:20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257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what people actually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3075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3075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C9F174"/>
          </a:solidFill>
          <a:ln>
            <a:solidFill>
              <a:srgbClr val="C9F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9624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C9F174"/>
                </a:solidFill>
                <a:latin typeface="Avenir Next"/>
              </a:rPr>
              <a:t>0:45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ONE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product + memorable mechanism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5231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85231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4103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7F6F"/>
                </a:solidFill>
                <a:latin typeface="Avenir Next"/>
              </a:rPr>
              <a:t>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3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HERO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trigger → action → payoff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3971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3971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3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3B4FF"/>
                </a:solidFill>
                <a:latin typeface="Avenir Next"/>
              </a:rPr>
              <a:t>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3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what testing changed + trust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9419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13064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A269FF"/>
                </a:solidFill>
                <a:latin typeface="Avenir Next"/>
              </a:rPr>
              <a:t>2:15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4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CREDIBILITY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impact · feasibility ·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2871216"/>
            <a:ext cx="219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B7AEC4"/>
                </a:solidFill>
                <a:latin typeface="Avenir Next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48672" y="1581912"/>
            <a:ext cx="1335024" cy="341985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48672" y="1581912"/>
            <a:ext cx="1335024" cy="118872"/>
          </a:xfrm>
          <a:prstGeom prst="roundRect">
            <a:avLst>
              <a:gd name="adj" fmla="val 12000"/>
            </a:avLst>
          </a:prstGeom>
          <a:solidFill>
            <a:srgbClr val="69DCE6"/>
          </a:solidFill>
          <a:ln>
            <a:solidFill>
              <a:srgbClr val="69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67544" y="1901952"/>
            <a:ext cx="107899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69DCE6"/>
                </a:solidFill>
                <a:latin typeface="Avenir Next"/>
              </a:rPr>
              <a:t>2:40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7544" y="2395728"/>
            <a:ext cx="1078992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7F4FA"/>
                </a:solidFill>
                <a:latin typeface="Avenir Next"/>
              </a:rPr>
              <a:t>CALLBACK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4976" y="3182112"/>
            <a:ext cx="1024128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B7AEC4"/>
                </a:solidFill>
                <a:latin typeface="Avenir Next"/>
              </a:rPr>
              <a:t>return to the human; land one line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" y="5577840"/>
            <a:ext cx="1298448" cy="310896"/>
          </a:xfrm>
          <a:prstGeom prst="roundRect">
            <a:avLst>
              <a:gd name="adj" fmla="val 12000"/>
            </a:avLst>
          </a:prstGeom>
          <a:solidFill>
            <a:srgbClr val="D3B4FF"/>
          </a:solidFill>
          <a:ln>
            <a:solidFill>
              <a:srgbClr val="D3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" y="5596127"/>
            <a:ext cx="129844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D0A12"/>
                </a:solidFill>
                <a:latin typeface="Avenir Next"/>
              </a:rPr>
              <a:t>SPEAKER RULE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9696" y="5596128"/>
            <a:ext cx="89611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7F4FA"/>
                </a:solidFill>
                <a:latin typeface="Avenir Next"/>
              </a:rPr>
              <a:t>One lead voice. Others own demo control and Q&amp;A. Record a backup.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THE KILL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Most teams lose through scope, not talent.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8249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00200"/>
            <a:ext cx="4846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‘app for everyone’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9572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13432"/>
            <a:ext cx="4846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more than 3 concepts after hour 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0896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26664"/>
            <a:ext cx="4846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high-fi before low-fi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822191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739896"/>
            <a:ext cx="4846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feature after Saturday 5pm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53542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4453128"/>
            <a:ext cx="48463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fake evidence or technical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68249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600200"/>
            <a:ext cx="4882896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vague ‘AI-powered’ magic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239572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313432"/>
            <a:ext cx="4882896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live demo without backup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10896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026664"/>
            <a:ext cx="4882896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five-person pixel committee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3822191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739896"/>
            <a:ext cx="4882896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all-nighter as a strategy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53542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F6F"/>
          </a:solidFill>
          <a:ln>
            <a:solidFill>
              <a:srgbClr val="FF7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453128"/>
            <a:ext cx="4882896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7F4FA"/>
                </a:solidFill>
                <a:latin typeface="Avenir Next"/>
              </a:rPr>
              <a:t>no process-heavy pitch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486400"/>
            <a:ext cx="10927080" cy="612648"/>
          </a:xfrm>
          <a:prstGeom prst="roundRect">
            <a:avLst>
              <a:gd name="adj" fmla="val 12000"/>
            </a:avLst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10561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D0A12"/>
                </a:solidFill>
                <a:latin typeface="Avenir Next"/>
              </a:rPr>
              <a:t>Before adding anything: which score does this improve?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THE NEXT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Win preparation starts with five boring certainties.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53896"/>
            <a:ext cx="4572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269FF"/>
                </a:solidFill>
                <a:latin typeface="Avenir Next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417320"/>
            <a:ext cx="9784080" cy="64008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0784" y="1581912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1581912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All five confirmation emails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4"/>
            <a:ext cx="4572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9DCE6"/>
                </a:solidFill>
                <a:latin typeface="Avenir Next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304288"/>
            <a:ext cx="9784080" cy="64008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468880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ROLE 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468880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20-minute strengths audit tonight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27832"/>
            <a:ext cx="4572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9F174"/>
                </a:solidFill>
                <a:latin typeface="Avenir Next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3191256"/>
            <a:ext cx="9784080" cy="64008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" y="3355848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ORGANISER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3355848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brief · deadline · AI/IP · rubric/pitch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14800"/>
            <a:ext cx="4572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7F6F"/>
                </a:solidFill>
                <a:latin typeface="Avenir Next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4078224"/>
            <a:ext cx="9784080" cy="64008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0784" y="4242816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90-MIN DRILL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4242816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run the neutral sprint tomorrow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001768"/>
            <a:ext cx="45720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3B4FF"/>
                </a:solidFill>
                <a:latin typeface="Avenir Next"/>
              </a:rP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965192"/>
            <a:ext cx="9784080" cy="640080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0784" y="5129783"/>
            <a:ext cx="2057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7F4FA"/>
                </a:solidFill>
                <a:latin typeface="Avenir Next"/>
              </a:rPr>
              <a:t>ARRIVAL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5129783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7AEC4"/>
                </a:solidFill>
                <a:latin typeface="Avenir Next"/>
              </a:rPr>
              <a:t>Wilkinson G04 by 4:15pm Friday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6016752"/>
            <a:ext cx="10744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D3B4FF"/>
                </a:solidFill>
                <a:latin typeface="Avenir Next"/>
              </a:rPr>
              <a:t>Target: the clearest tested idea in the room — delivered by the calmest team.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D0A12"/>
          </a:solidFill>
          <a:ln>
            <a:solidFill>
              <a:srgbClr val="0D0A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269FF"/>
          </a:solidFill>
          <a:ln>
            <a:solidFill>
              <a:srgbClr val="A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5943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EVIDENCE +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069848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7F4FA"/>
                </a:solidFill>
                <a:latin typeface="Avenir Next"/>
              </a:rPr>
              <a:t>Current organiser announcements override this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29184"/>
            <a:ext cx="5029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B7AEC4"/>
                </a:solidFill>
                <a:latin typeface="Avenir Next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5389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2026 OFFICIAL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417320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events.humanitix.com/suede-designaton-2026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112264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9DCE6"/>
                </a:solidFill>
                <a:latin typeface="Avenir Next"/>
              </a:rPr>
              <a:t>SUEDE LIVE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75688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linktr.ee/suedesociety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70632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9F174"/>
                </a:solidFill>
                <a:latin typeface="Avenir Next"/>
              </a:rPr>
              <a:t>2025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34056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suede-designathon-2025.devpost.com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429000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7F6F"/>
                </a:solidFill>
                <a:latin typeface="Avenir Next"/>
              </a:rPr>
              <a:t>2025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392424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suede-designathon-2025.devpost.com/rules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087368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3B4FF"/>
                </a:solidFill>
                <a:latin typeface="Avenir Next"/>
              </a:rPr>
              <a:t>2025 GALLERY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050791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suede-designathon-2025.devpost.com/project-gallery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745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269FF"/>
                </a:solidFill>
                <a:latin typeface="Avenir Next"/>
              </a:rPr>
              <a:t>2024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709159"/>
            <a:ext cx="82113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F7F4FA"/>
                </a:solidFill>
                <a:latin typeface="Avenir Next"/>
              </a:rPr>
              <a:t>suede-designathon-2024.devpost.com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23560"/>
            <a:ext cx="10972800" cy="585216"/>
          </a:xfrm>
          <a:prstGeom prst="roundRect">
            <a:avLst>
              <a:gd name="adj" fmla="val 12000"/>
            </a:avLst>
          </a:prstGeom>
          <a:solidFill>
            <a:srgbClr val="1B1624"/>
          </a:solidFill>
          <a:ln>
            <a:solidFill>
              <a:srgbClr val="26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769864"/>
            <a:ext cx="10561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0" i="0">
                <a:solidFill>
                  <a:srgbClr val="B7AEC4"/>
                </a:solidFill>
                <a:latin typeface="Avenir Next"/>
              </a:rPr>
              <a:t>Research cut-off: 1 Sep 2026 · 2026 brief, rubric, deadline, judges, prizes, and AI/IP rules were not public.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SUEDE Designathon 2026 — Winning Plan</dc:title>
  <dc:subject>Competition operating proposal for Ethan, Darius, CC, Akari, and Chloe</dc:subject>
  <dc:creator>OpenAI Codex for Ethan Wu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