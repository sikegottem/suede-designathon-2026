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20 seconds.</a:t>
            </a:r>
          </a:p>
          <a:p>
            <a:r>
              <a:t>Do not substitute a polished slogan for the missing mechanism.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30 seconds.</a:t>
            </a:r>
          </a:p>
          <a:p>
            <a:r>
              <a:t>Use one real team-owned story only with consent; no invented persona or quote.</a:t>
            </a:r>
          </a:p>
          <a:p>
            <a:r>
              <a:t>Transition: why does this feel unusual on an ordinary day?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25 seconds.</a:t>
            </a:r>
          </a:p>
          <a:p>
            <a:r>
              <a:t>Do not claim that all friends or all men share this reaction.</a:t>
            </a:r>
          </a:p>
          <a:p>
            <a:r>
              <a:t>Transition: research gives us a narrower explanation for why people hold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30 seconds.</a:t>
            </a:r>
          </a:p>
          <a:p>
            <a:r>
              <a:t>External gratitude research is directional evidence, not proof of this audience or medium.</a:t>
            </a:r>
          </a:p>
          <a:p>
            <a:r>
              <a:t>Transition: that uncertainty changes what the experience must protect.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25 seconds.</a:t>
            </a:r>
          </a:p>
          <a:p>
            <a:r>
              <a:t>Keep requirements provisional until primary research is complete.</a:t>
            </a:r>
          </a:p>
          <a:p>
            <a:r>
              <a:t>Transition: now make the medium prove it can satisfy those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25 seconds.</a:t>
            </a:r>
          </a:p>
          <a:p>
            <a:r>
              <a:t>Do not draw a speculative Goldilocks chart as if it were measured data.</a:t>
            </a:r>
          </a:p>
          <a:p>
            <a:r>
              <a:t>Transition: the result, not preference, determines which direction earns the reveal.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20 seconds.</a:t>
            </a:r>
          </a:p>
          <a:p>
            <a:r>
              <a:t>A multimedia feature list is not a mechanism.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35 seconds.</a:t>
            </a:r>
          </a:p>
          <a:p>
            <a:r>
              <a:t>Label every simulated or proposed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35 seconds.</a:t>
            </a:r>
          </a:p>
          <a:p>
            <a:r>
              <a:t>Show that AI does not write the intimate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35 seconds.</a:t>
            </a:r>
          </a:p>
          <a:p>
            <a:r>
              <a:t>A rich reveal must explain value, not substitute spectacle for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30 seconds.</a:t>
            </a:r>
          </a:p>
          <a:p>
            <a:r>
              <a:t>Do not describe safeguards that the prototype does not demonstrate.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25 seconds.</a:t>
            </a:r>
          </a:p>
          <a:p>
            <a:r>
              <a:t>No invented quote, number, score or effect.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25 seconds.</a:t>
            </a:r>
          </a:p>
          <a:p>
            <a:r>
              <a:t>The audience reveal demonstrates the flow; it is not impact evidence.</a:t>
            </a:r>
          </a:p>
          <a:p>
            <a:r>
              <a:t>Do not personalise from judge research or require a reply.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ver-premise/index-section-status"/>
          <p:cNvSpPr txBox="1"/>
          <p:nvPr/>
        </p:nvSpPr>
        <p:spPr>
          <a:xfrm>
            <a:off x="685800" y="502920"/>
            <a:ext cx="10835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66666"/>
                </a:solidFill>
                <a:latin typeface="Arial"/>
              </a:rPr>
              <a:t>01/13   OPENING   /   BLOCKED</a:t>
            </a:r>
          </a:p>
        </p:txBody>
      </p:sp>
      <p:sp>
        <p:nvSpPr>
          <p:cNvPr id="3" name="cover-premise/header-rule"/>
          <p:cNvSpPr/>
          <p:nvPr/>
        </p:nvSpPr>
        <p:spPr>
          <a:xfrm>
            <a:off x="685800" y="886968"/>
            <a:ext cx="10835640" cy="1097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ver-premise/claim-or-blocker"/>
          <p:cNvSpPr txBox="1"/>
          <p:nvPr/>
        </p:nvSpPr>
        <p:spPr>
          <a:xfrm>
            <a:off x="685800" y="1161288"/>
            <a:ext cx="10835640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666666"/>
                </a:solidFill>
                <a:latin typeface="Arial"/>
              </a:rPr>
              <a:t>BLOCKED — missing claim; resolve the opening decision before final design.</a:t>
            </a:r>
          </a:p>
        </p:txBody>
      </p:sp>
      <p:sp>
        <p:nvSpPr>
          <p:cNvPr id="5" name="cover-premise/takeaway-label"/>
          <p:cNvSpPr txBox="1"/>
          <p:nvPr/>
        </p:nvSpPr>
        <p:spPr>
          <a:xfrm>
            <a:off x="685800" y="2779776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AUDIENCE TAKEAWAY</a:t>
            </a:r>
          </a:p>
        </p:txBody>
      </p:sp>
      <p:sp>
        <p:nvSpPr>
          <p:cNvPr id="6" name="cover-premise/audience-takeaway"/>
          <p:cNvSpPr txBox="1"/>
          <p:nvPr/>
        </p:nvSpPr>
        <p:spPr>
          <a:xfrm>
            <a:off x="685800" y="3072384"/>
            <a:ext cx="6766560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Know who the team is and be able to repeat the selected idea in one sentence.</a:t>
            </a:r>
          </a:p>
        </p:txBody>
      </p:sp>
      <p:sp>
        <p:nvSpPr>
          <p:cNvPr id="7" name="cover-premise/composition-label"/>
          <p:cNvSpPr txBox="1"/>
          <p:nvPr/>
        </p:nvSpPr>
        <p:spPr>
          <a:xfrm>
            <a:off x="7909560" y="2779776"/>
            <a:ext cx="3611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COMPOSITION NOTE</a:t>
            </a:r>
          </a:p>
        </p:txBody>
      </p:sp>
      <p:sp>
        <p:nvSpPr>
          <p:cNvPr id="8" name="cover-premise/composition-note"/>
          <p:cNvSpPr txBox="1"/>
          <p:nvPr/>
        </p:nvSpPr>
        <p:spPr>
          <a:xfrm>
            <a:off x="7909560" y="3072384"/>
            <a:ext cx="36118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Team details and one plain sentence; mark missing name, number and mechanism as blocked.</a:t>
            </a:r>
          </a:p>
        </p:txBody>
      </p:sp>
      <p:sp>
        <p:nvSpPr>
          <p:cNvPr id="9" name="cover-premise/footer-rule"/>
          <p:cNvSpPr/>
          <p:nvPr/>
        </p:nvSpPr>
        <p:spPr>
          <a:xfrm>
            <a:off x="685800" y="4700016"/>
            <a:ext cx="10835640" cy="1097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ver-premise/evidence-label"/>
          <p:cNvSpPr txBox="1"/>
          <p:nvPr/>
        </p:nvSpPr>
        <p:spPr>
          <a:xfrm>
            <a:off x="685800" y="4983480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EVIDENCE REFS</a:t>
            </a:r>
          </a:p>
        </p:txBody>
      </p:sp>
      <p:sp>
        <p:nvSpPr>
          <p:cNvPr id="11" name="cover-premise/evidence-refs"/>
          <p:cNvSpPr txBox="1"/>
          <p:nvPr/>
        </p:nvSpPr>
        <p:spPr>
          <a:xfrm>
            <a:off x="685800" y="5257800"/>
            <a:ext cx="7452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Arial"/>
              </a:rPr>
              <a:t>WIKI/BRIEF.md • WIKI/DECISIONS.md</a:t>
            </a:r>
          </a:p>
        </p:txBody>
      </p:sp>
      <p:sp>
        <p:nvSpPr>
          <p:cNvPr id="12" name="cover-premise/timing"/>
          <p:cNvSpPr txBox="1"/>
          <p:nvPr/>
        </p:nvSpPr>
        <p:spPr>
          <a:xfrm>
            <a:off x="9738360" y="4983480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20 SEC</a:t>
            </a:r>
          </a:p>
        </p:txBody>
      </p:sp>
      <p:sp>
        <p:nvSpPr>
          <p:cNvPr id="13" name="cover-premise/concise-notes"/>
          <p:cNvSpPr txBox="1"/>
          <p:nvPr/>
        </p:nvSpPr>
        <p:spPr>
          <a:xfrm>
            <a:off x="8412480" y="5257800"/>
            <a:ext cx="3108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Arial"/>
              </a:rPr>
              <a:t>Do not substitute a polished slogan for the missing mechanism.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ived-moment/index-section-status"/>
          <p:cNvSpPr txBox="1"/>
          <p:nvPr/>
        </p:nvSpPr>
        <p:spPr>
          <a:xfrm>
            <a:off x="685800" y="502920"/>
            <a:ext cx="10835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66666"/>
                </a:solidFill>
                <a:latin typeface="Arial"/>
              </a:rPr>
              <a:t>02/13   PROBLEM   /   DRAFT</a:t>
            </a:r>
          </a:p>
        </p:txBody>
      </p:sp>
      <p:sp>
        <p:nvSpPr>
          <p:cNvPr id="3" name="lived-moment/header-rule"/>
          <p:cNvSpPr/>
          <p:nvPr/>
        </p:nvSpPr>
        <p:spPr>
          <a:xfrm>
            <a:off x="685800" y="886968"/>
            <a:ext cx="10835640" cy="1097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ived-moment/claim-or-blocker"/>
          <p:cNvSpPr txBox="1"/>
          <p:nvPr/>
        </p:nvSpPr>
        <p:spPr>
          <a:xfrm>
            <a:off x="685800" y="1161288"/>
            <a:ext cx="10835640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When did you last receive something made deliberately to show appreciation?</a:t>
            </a:r>
          </a:p>
        </p:txBody>
      </p:sp>
      <p:sp>
        <p:nvSpPr>
          <p:cNvPr id="5" name="lived-moment/takeaway-label"/>
          <p:cNvSpPr txBox="1"/>
          <p:nvPr/>
        </p:nvSpPr>
        <p:spPr>
          <a:xfrm>
            <a:off x="685800" y="2779776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AUDIENCE TAKEAWAY</a:t>
            </a:r>
          </a:p>
        </p:txBody>
      </p:sp>
      <p:sp>
        <p:nvSpPr>
          <p:cNvPr id="6" name="lived-moment/audience-takeaway"/>
          <p:cNvSpPr txBox="1"/>
          <p:nvPr/>
        </p:nvSpPr>
        <p:spPr>
          <a:xfrm>
            <a:off x="685800" y="3072384"/>
            <a:ext cx="6766560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Recall the emotional difference between receiving a deliberate object and an ordinary message.</a:t>
            </a:r>
          </a:p>
        </p:txBody>
      </p:sp>
      <p:sp>
        <p:nvSpPr>
          <p:cNvPr id="7" name="lived-moment/composition-label"/>
          <p:cNvSpPr txBox="1"/>
          <p:nvPr/>
        </p:nvSpPr>
        <p:spPr>
          <a:xfrm>
            <a:off x="7909560" y="2779776"/>
            <a:ext cx="3611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COMPOSITION NOTE</a:t>
            </a:r>
          </a:p>
        </p:txBody>
      </p:sp>
      <p:sp>
        <p:nvSpPr>
          <p:cNvPr id="8" name="lived-moment/composition-note"/>
          <p:cNvSpPr txBox="1"/>
          <p:nvPr/>
        </p:nvSpPr>
        <p:spPr>
          <a:xfrm>
            <a:off x="7909560" y="3072384"/>
            <a:ext cx="36118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One question plus an empty evidence slot for a consented real letter or care-package object.</a:t>
            </a:r>
          </a:p>
        </p:txBody>
      </p:sp>
      <p:sp>
        <p:nvSpPr>
          <p:cNvPr id="9" name="lived-moment/footer-rule"/>
          <p:cNvSpPr/>
          <p:nvPr/>
        </p:nvSpPr>
        <p:spPr>
          <a:xfrm>
            <a:off x="685800" y="4700016"/>
            <a:ext cx="10835640" cy="1097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ived-moment/evidence-label"/>
          <p:cNvSpPr txBox="1"/>
          <p:nvPr/>
        </p:nvSpPr>
        <p:spPr>
          <a:xfrm>
            <a:off x="685800" y="4983480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EVIDENCE REFS</a:t>
            </a:r>
          </a:p>
        </p:txBody>
      </p:sp>
      <p:sp>
        <p:nvSpPr>
          <p:cNvPr id="11" name="lived-moment/evidence-refs"/>
          <p:cNvSpPr txBox="1"/>
          <p:nvPr/>
        </p:nvSpPr>
        <p:spPr>
          <a:xfrm>
            <a:off x="685800" y="5257800"/>
            <a:ext cx="7452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Arial"/>
              </a:rPr>
              <a:t>WIKI/FRIENDSHIP_APPRECIATION_DOSSIER.md • WIKI/EVIDENCE.md</a:t>
            </a:r>
          </a:p>
        </p:txBody>
      </p:sp>
      <p:sp>
        <p:nvSpPr>
          <p:cNvPr id="12" name="lived-moment/timing"/>
          <p:cNvSpPr txBox="1"/>
          <p:nvPr/>
        </p:nvSpPr>
        <p:spPr>
          <a:xfrm>
            <a:off x="9738360" y="4983480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30 SEC</a:t>
            </a:r>
          </a:p>
        </p:txBody>
      </p:sp>
      <p:sp>
        <p:nvSpPr>
          <p:cNvPr id="13" name="lived-moment/concise-notes"/>
          <p:cNvSpPr txBox="1"/>
          <p:nvPr/>
        </p:nvSpPr>
        <p:spPr>
          <a:xfrm>
            <a:off x="8412480" y="5257800"/>
            <a:ext cx="3108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Arial"/>
              </a:rPr>
              <a:t>Use one real team-owned story only with consent; no invented persona or quote. Transition: why does this feel unusual on an ordinary day?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unwritten-rule/index-section-status"/>
          <p:cNvSpPr txBox="1"/>
          <p:nvPr/>
        </p:nvSpPr>
        <p:spPr>
          <a:xfrm>
            <a:off x="685800" y="502920"/>
            <a:ext cx="10835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66666"/>
                </a:solidFill>
                <a:latin typeface="Arial"/>
              </a:rPr>
              <a:t>03/13   PROBLEM   /   DRAFT</a:t>
            </a:r>
          </a:p>
        </p:txBody>
      </p:sp>
      <p:sp>
        <p:nvSpPr>
          <p:cNvPr id="3" name="unwritten-rule/header-rule"/>
          <p:cNvSpPr/>
          <p:nvPr/>
        </p:nvSpPr>
        <p:spPr>
          <a:xfrm>
            <a:off x="685800" y="886968"/>
            <a:ext cx="10835640" cy="1097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nwritten-rule/claim-or-blocker"/>
          <p:cNvSpPr txBox="1"/>
          <p:nvPr/>
        </p:nvSpPr>
        <p:spPr>
          <a:xfrm>
            <a:off x="685800" y="1161288"/>
            <a:ext cx="10835640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Why can “I appreciate you” feel natural on a birthday, but sound like goodbye on an ordinary Tuesday?</a:t>
            </a:r>
          </a:p>
        </p:txBody>
      </p:sp>
      <p:sp>
        <p:nvSpPr>
          <p:cNvPr id="5" name="unwritten-rule/takeaway-label"/>
          <p:cNvSpPr txBox="1"/>
          <p:nvPr/>
        </p:nvSpPr>
        <p:spPr>
          <a:xfrm>
            <a:off x="685800" y="2779776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AUDIENCE TAKEAWAY</a:t>
            </a:r>
          </a:p>
        </p:txBody>
      </p:sp>
      <p:sp>
        <p:nvSpPr>
          <p:cNvPr id="6" name="unwritten-rule/audience-takeaway"/>
          <p:cNvSpPr txBox="1"/>
          <p:nvPr/>
        </p:nvSpPr>
        <p:spPr>
          <a:xfrm>
            <a:off x="685800" y="3072384"/>
            <a:ext cx="6766560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Understand the hypothesised unwritten rule without mistaking it for a universal fact.</a:t>
            </a:r>
          </a:p>
        </p:txBody>
      </p:sp>
      <p:sp>
        <p:nvSpPr>
          <p:cNvPr id="7" name="unwritten-rule/composition-label"/>
          <p:cNvSpPr txBox="1"/>
          <p:nvPr/>
        </p:nvSpPr>
        <p:spPr>
          <a:xfrm>
            <a:off x="7909560" y="2779776"/>
            <a:ext cx="3611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COMPOSITION NOTE</a:t>
            </a:r>
          </a:p>
        </p:txBody>
      </p:sp>
      <p:sp>
        <p:nvSpPr>
          <p:cNvPr id="8" name="unwritten-rule/composition-note"/>
          <p:cNvSpPr txBox="1"/>
          <p:nvPr/>
        </p:nvSpPr>
        <p:spPr>
          <a:xfrm>
            <a:off x="7909560" y="3072384"/>
            <a:ext cx="36118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The same sentence appears once, with birthday and ordinary-day context on opposite sides; label the frame as a hypothesis.</a:t>
            </a:r>
          </a:p>
        </p:txBody>
      </p:sp>
      <p:sp>
        <p:nvSpPr>
          <p:cNvPr id="9" name="unwritten-rule/footer-rule"/>
          <p:cNvSpPr/>
          <p:nvPr/>
        </p:nvSpPr>
        <p:spPr>
          <a:xfrm>
            <a:off x="685800" y="4700016"/>
            <a:ext cx="10835640" cy="1097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unwritten-rule/evidence-label"/>
          <p:cNvSpPr txBox="1"/>
          <p:nvPr/>
        </p:nvSpPr>
        <p:spPr>
          <a:xfrm>
            <a:off x="685800" y="4983480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EVIDENCE REFS</a:t>
            </a:r>
          </a:p>
        </p:txBody>
      </p:sp>
      <p:sp>
        <p:nvSpPr>
          <p:cNvPr id="11" name="unwritten-rule/evidence-refs"/>
          <p:cNvSpPr txBox="1"/>
          <p:nvPr/>
        </p:nvSpPr>
        <p:spPr>
          <a:xfrm>
            <a:off x="685800" y="5257800"/>
            <a:ext cx="7452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Arial"/>
              </a:rPr>
              <a:t>WIKI/BRIEF.md • WIKI/DECISIONS.md • WIKI/FRIENDSHIP_APPRECIATION_DOSSIER.md</a:t>
            </a:r>
          </a:p>
        </p:txBody>
      </p:sp>
      <p:sp>
        <p:nvSpPr>
          <p:cNvPr id="12" name="unwritten-rule/timing"/>
          <p:cNvSpPr txBox="1"/>
          <p:nvPr/>
        </p:nvSpPr>
        <p:spPr>
          <a:xfrm>
            <a:off x="9738360" y="4983480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25 SEC</a:t>
            </a:r>
          </a:p>
        </p:txBody>
      </p:sp>
      <p:sp>
        <p:nvSpPr>
          <p:cNvPr id="13" name="unwritten-rule/concise-notes"/>
          <p:cNvSpPr txBox="1"/>
          <p:nvPr/>
        </p:nvSpPr>
        <p:spPr>
          <a:xfrm>
            <a:off x="8412480" y="5257800"/>
            <a:ext cx="3108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Arial"/>
              </a:rPr>
              <a:t>Do not claim that all friends or all men share this reaction. Transition: research gives us a narrower explanation for why people hold back.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vidence-gap/index-section-status"/>
          <p:cNvSpPr txBox="1"/>
          <p:nvPr/>
        </p:nvSpPr>
        <p:spPr>
          <a:xfrm>
            <a:off x="685800" y="502920"/>
            <a:ext cx="10835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66666"/>
                </a:solidFill>
                <a:latin typeface="Arial"/>
              </a:rPr>
              <a:t>04/13   EVIDENCE   /   DRAFT</a:t>
            </a:r>
          </a:p>
        </p:txBody>
      </p:sp>
      <p:sp>
        <p:nvSpPr>
          <p:cNvPr id="3" name="evidence-gap/header-rule"/>
          <p:cNvSpPr/>
          <p:nvPr/>
        </p:nvSpPr>
        <p:spPr>
          <a:xfrm>
            <a:off x="685800" y="886968"/>
            <a:ext cx="10835640" cy="1097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vidence-gap/claim-or-blocker"/>
          <p:cNvSpPr txBox="1"/>
          <p:nvPr/>
        </p:nvSpPr>
        <p:spPr>
          <a:xfrm>
            <a:off x="685800" y="1161288"/>
            <a:ext cx="10835640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We may hold back because we mispredict how appreciation will land.</a:t>
            </a:r>
          </a:p>
        </p:txBody>
      </p:sp>
      <p:sp>
        <p:nvSpPr>
          <p:cNvPr id="5" name="evidence-gap/takeaway-label"/>
          <p:cNvSpPr txBox="1"/>
          <p:nvPr/>
        </p:nvSpPr>
        <p:spPr>
          <a:xfrm>
            <a:off x="685800" y="2779776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AUDIENCE TAKEAWAY</a:t>
            </a:r>
          </a:p>
        </p:txBody>
      </p:sp>
      <p:sp>
        <p:nvSpPr>
          <p:cNvPr id="6" name="evidence-gap/audience-takeaway"/>
          <p:cNvSpPr txBox="1"/>
          <p:nvPr/>
        </p:nvSpPr>
        <p:spPr>
          <a:xfrm>
            <a:off x="685800" y="3072384"/>
            <a:ext cx="6766560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See the supported prediction gap and the unresolved risks around meaning, sincerity and pressure.</a:t>
            </a:r>
          </a:p>
        </p:txBody>
      </p:sp>
      <p:sp>
        <p:nvSpPr>
          <p:cNvPr id="7" name="evidence-gap/composition-label"/>
          <p:cNvSpPr txBox="1"/>
          <p:nvPr/>
        </p:nvSpPr>
        <p:spPr>
          <a:xfrm>
            <a:off x="7909560" y="2779776"/>
            <a:ext cx="3611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COMPOSITION NOTE</a:t>
            </a:r>
          </a:p>
        </p:txBody>
      </p:sp>
      <p:sp>
        <p:nvSpPr>
          <p:cNvPr id="8" name="evidence-gap/composition-note"/>
          <p:cNvSpPr txBox="1"/>
          <p:nvPr/>
        </p:nvSpPr>
        <p:spPr>
          <a:xfrm>
            <a:off x="7909560" y="3072384"/>
            <a:ext cx="36118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Two sourced findings and one explicit limitation; no decorative research collage.</a:t>
            </a:r>
          </a:p>
        </p:txBody>
      </p:sp>
      <p:sp>
        <p:nvSpPr>
          <p:cNvPr id="9" name="evidence-gap/footer-rule"/>
          <p:cNvSpPr/>
          <p:nvPr/>
        </p:nvSpPr>
        <p:spPr>
          <a:xfrm>
            <a:off x="685800" y="4700016"/>
            <a:ext cx="10835640" cy="1097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vidence-gap/evidence-label"/>
          <p:cNvSpPr txBox="1"/>
          <p:nvPr/>
        </p:nvSpPr>
        <p:spPr>
          <a:xfrm>
            <a:off x="685800" y="4983480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EVIDENCE REFS</a:t>
            </a:r>
          </a:p>
        </p:txBody>
      </p:sp>
      <p:sp>
        <p:nvSpPr>
          <p:cNvPr id="11" name="evidence-gap/evidence-refs"/>
          <p:cNvSpPr txBox="1"/>
          <p:nvPr/>
        </p:nvSpPr>
        <p:spPr>
          <a:xfrm>
            <a:off x="685800" y="5257800"/>
            <a:ext cx="7452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Arial"/>
              </a:rPr>
              <a:t>WIKI/EVIDENCE.md • WIKI/FRIENDSHIP_APPRECIATION_DOSSIER.md</a:t>
            </a:r>
          </a:p>
        </p:txBody>
      </p:sp>
      <p:sp>
        <p:nvSpPr>
          <p:cNvPr id="12" name="evidence-gap/timing"/>
          <p:cNvSpPr txBox="1"/>
          <p:nvPr/>
        </p:nvSpPr>
        <p:spPr>
          <a:xfrm>
            <a:off x="9738360" y="4983480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30 SEC</a:t>
            </a:r>
          </a:p>
        </p:txBody>
      </p:sp>
      <p:sp>
        <p:nvSpPr>
          <p:cNvPr id="13" name="evidence-gap/concise-notes"/>
          <p:cNvSpPr txBox="1"/>
          <p:nvPr/>
        </p:nvSpPr>
        <p:spPr>
          <a:xfrm>
            <a:off x="8412480" y="5257800"/>
            <a:ext cx="3108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Arial"/>
              </a:rPr>
              <a:t>External gratitude research is directional evidence, not proof of this audience or medium. Transition: that uncertainty changes what the experience must protect.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vidence-to-requirements/index-section-status"/>
          <p:cNvSpPr txBox="1"/>
          <p:nvPr/>
        </p:nvSpPr>
        <p:spPr>
          <a:xfrm>
            <a:off x="685800" y="502920"/>
            <a:ext cx="10835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66666"/>
                </a:solidFill>
                <a:latin typeface="Arial"/>
              </a:rPr>
              <a:t>05/13   SYNTHESIS   /   DRAFT</a:t>
            </a:r>
          </a:p>
        </p:txBody>
      </p:sp>
      <p:sp>
        <p:nvSpPr>
          <p:cNvPr id="3" name="evidence-to-requirements/header-rule"/>
          <p:cNvSpPr/>
          <p:nvPr/>
        </p:nvSpPr>
        <p:spPr>
          <a:xfrm>
            <a:off x="685800" y="886968"/>
            <a:ext cx="10835640" cy="1097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vidence-to-requirements/claim-or-blocker"/>
          <p:cNvSpPr txBox="1"/>
          <p:nvPr/>
        </p:nvSpPr>
        <p:spPr>
          <a:xfrm>
            <a:off x="685800" y="1161288"/>
            <a:ext cx="10835640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A care experience must preserve authorship without turning receipt into a debt.</a:t>
            </a:r>
          </a:p>
        </p:txBody>
      </p:sp>
      <p:sp>
        <p:nvSpPr>
          <p:cNvPr id="5" name="evidence-to-requirements/takeaway-label"/>
          <p:cNvSpPr txBox="1"/>
          <p:nvPr/>
        </p:nvSpPr>
        <p:spPr>
          <a:xfrm>
            <a:off x="685800" y="2779776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AUDIENCE TAKEAWAY</a:t>
            </a:r>
          </a:p>
        </p:txBody>
      </p:sp>
      <p:sp>
        <p:nvSpPr>
          <p:cNvPr id="6" name="evidence-to-requirements/audience-takeaway"/>
          <p:cNvSpPr txBox="1"/>
          <p:nvPr/>
        </p:nvSpPr>
        <p:spPr>
          <a:xfrm>
            <a:off x="685800" y="3072384"/>
            <a:ext cx="6766560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Understand the provisional requirements that follow from the sender and receiver evidence.</a:t>
            </a:r>
          </a:p>
        </p:txBody>
      </p:sp>
      <p:sp>
        <p:nvSpPr>
          <p:cNvPr id="7" name="evidence-to-requirements/composition-label"/>
          <p:cNvSpPr txBox="1"/>
          <p:nvPr/>
        </p:nvSpPr>
        <p:spPr>
          <a:xfrm>
            <a:off x="7909560" y="2779776"/>
            <a:ext cx="3611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COMPOSITION NOTE</a:t>
            </a:r>
          </a:p>
        </p:txBody>
      </p:sp>
      <p:sp>
        <p:nvSpPr>
          <p:cNvPr id="8" name="evidence-to-requirements/composition-note"/>
          <p:cNvSpPr txBox="1"/>
          <p:nvPr/>
        </p:nvSpPr>
        <p:spPr>
          <a:xfrm>
            <a:off x="7909560" y="3072384"/>
            <a:ext cx="36118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A direct finding-to-requirement mapping for authorship, interpretation, agency, closure and keeping.</a:t>
            </a:r>
          </a:p>
        </p:txBody>
      </p:sp>
      <p:sp>
        <p:nvSpPr>
          <p:cNvPr id="9" name="evidence-to-requirements/footer-rule"/>
          <p:cNvSpPr/>
          <p:nvPr/>
        </p:nvSpPr>
        <p:spPr>
          <a:xfrm>
            <a:off x="685800" y="4700016"/>
            <a:ext cx="10835640" cy="1097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vidence-to-requirements/evidence-label"/>
          <p:cNvSpPr txBox="1"/>
          <p:nvPr/>
        </p:nvSpPr>
        <p:spPr>
          <a:xfrm>
            <a:off x="685800" y="4983480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EVIDENCE REFS</a:t>
            </a:r>
          </a:p>
        </p:txBody>
      </p:sp>
      <p:sp>
        <p:nvSpPr>
          <p:cNvPr id="11" name="evidence-to-requirements/evidence-refs"/>
          <p:cNvSpPr txBox="1"/>
          <p:nvPr/>
        </p:nvSpPr>
        <p:spPr>
          <a:xfrm>
            <a:off x="685800" y="5257800"/>
            <a:ext cx="7452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Arial"/>
              </a:rPr>
              <a:t>WIKI/EVIDENCE.md • WIKI/FRIENDSHIP_APPRECIATION_DOSSIER.md</a:t>
            </a:r>
          </a:p>
        </p:txBody>
      </p:sp>
      <p:sp>
        <p:nvSpPr>
          <p:cNvPr id="12" name="evidence-to-requirements/timing"/>
          <p:cNvSpPr txBox="1"/>
          <p:nvPr/>
        </p:nvSpPr>
        <p:spPr>
          <a:xfrm>
            <a:off x="9738360" y="4983480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25 SEC</a:t>
            </a:r>
          </a:p>
        </p:txBody>
      </p:sp>
      <p:sp>
        <p:nvSpPr>
          <p:cNvPr id="13" name="evidence-to-requirements/concise-notes"/>
          <p:cNvSpPr txBox="1"/>
          <p:nvPr/>
        </p:nvSpPr>
        <p:spPr>
          <a:xfrm>
            <a:off x="8412480" y="5257800"/>
            <a:ext cx="3108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Arial"/>
              </a:rPr>
              <a:t>Keep requirements provisional until primary research is complete. Transition: now make the medium prove it can satisfy those requirements.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ame-words-test/index-section-status"/>
          <p:cNvSpPr txBox="1"/>
          <p:nvPr/>
        </p:nvSpPr>
        <p:spPr>
          <a:xfrm>
            <a:off x="685800" y="502920"/>
            <a:ext cx="10835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66666"/>
                </a:solidFill>
                <a:latin typeface="Arial"/>
              </a:rPr>
              <a:t>06/13   DIRECTION   /   BLOCKED</a:t>
            </a:r>
          </a:p>
        </p:txBody>
      </p:sp>
      <p:sp>
        <p:nvSpPr>
          <p:cNvPr id="3" name="same-words-test/header-rule"/>
          <p:cNvSpPr/>
          <p:nvPr/>
        </p:nvSpPr>
        <p:spPr>
          <a:xfrm>
            <a:off x="685800" y="886968"/>
            <a:ext cx="10835640" cy="1097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ame-words-test/claim-or-blocker"/>
          <p:cNvSpPr txBox="1"/>
          <p:nvPr/>
        </p:nvSpPr>
        <p:spPr>
          <a:xfrm>
            <a:off x="685800" y="1161288"/>
            <a:ext cx="10835640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666666"/>
                </a:solidFill>
                <a:latin typeface="Arial"/>
              </a:rPr>
              <a:t>BLOCKED — The words stay the same. Does the container change what they mean?</a:t>
            </a:r>
          </a:p>
        </p:txBody>
      </p:sp>
      <p:sp>
        <p:nvSpPr>
          <p:cNvPr id="5" name="same-words-test/takeaway-label"/>
          <p:cNvSpPr txBox="1"/>
          <p:nvPr/>
        </p:nvSpPr>
        <p:spPr>
          <a:xfrm>
            <a:off x="685800" y="2779776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AUDIENCE TAKEAWAY</a:t>
            </a:r>
          </a:p>
        </p:txBody>
      </p:sp>
      <p:sp>
        <p:nvSpPr>
          <p:cNvPr id="6" name="same-words-test/audience-takeaway"/>
          <p:cNvSpPr txBox="1"/>
          <p:nvPr/>
        </p:nvSpPr>
        <p:spPr>
          <a:xfrm>
            <a:off x="685800" y="3072384"/>
            <a:ext cx="6766560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See ordinary chat, a physical or crafted control and a rough digital artefact compared fairly.</a:t>
            </a:r>
          </a:p>
        </p:txBody>
      </p:sp>
      <p:sp>
        <p:nvSpPr>
          <p:cNvPr id="7" name="same-words-test/composition-label"/>
          <p:cNvSpPr txBox="1"/>
          <p:nvPr/>
        </p:nvSpPr>
        <p:spPr>
          <a:xfrm>
            <a:off x="7909560" y="2779776"/>
            <a:ext cx="3611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COMPOSITION NOTE</a:t>
            </a:r>
          </a:p>
        </p:txBody>
      </p:sp>
      <p:sp>
        <p:nvSpPr>
          <p:cNvPr id="8" name="same-words-test/composition-note"/>
          <p:cNvSpPr txBox="1"/>
          <p:nvPr/>
        </p:nvSpPr>
        <p:spPr>
          <a:xfrm>
            <a:off x="7909560" y="3072384"/>
            <a:ext cx="36118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Three matched representations with identical wording and empty result fields for sincerity, awkwardness, ownership, alarm and reply pressure.</a:t>
            </a:r>
          </a:p>
        </p:txBody>
      </p:sp>
      <p:sp>
        <p:nvSpPr>
          <p:cNvPr id="9" name="same-words-test/footer-rule"/>
          <p:cNvSpPr/>
          <p:nvPr/>
        </p:nvSpPr>
        <p:spPr>
          <a:xfrm>
            <a:off x="685800" y="4700016"/>
            <a:ext cx="10835640" cy="1097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ame-words-test/evidence-label"/>
          <p:cNvSpPr txBox="1"/>
          <p:nvPr/>
        </p:nvSpPr>
        <p:spPr>
          <a:xfrm>
            <a:off x="685800" y="4983480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EVIDENCE REFS</a:t>
            </a:r>
          </a:p>
        </p:txBody>
      </p:sp>
      <p:sp>
        <p:nvSpPr>
          <p:cNvPr id="11" name="same-words-test/evidence-refs"/>
          <p:cNvSpPr txBox="1"/>
          <p:nvPr/>
        </p:nvSpPr>
        <p:spPr>
          <a:xfrm>
            <a:off x="685800" y="5257800"/>
            <a:ext cx="7452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Arial"/>
              </a:rPr>
              <a:t>WIKI/TESTS.md • WIKI/FRIENDSHIP_APPRECIATION_DOSSIER.md</a:t>
            </a:r>
          </a:p>
        </p:txBody>
      </p:sp>
      <p:sp>
        <p:nvSpPr>
          <p:cNvPr id="12" name="same-words-test/timing"/>
          <p:cNvSpPr txBox="1"/>
          <p:nvPr/>
        </p:nvSpPr>
        <p:spPr>
          <a:xfrm>
            <a:off x="9738360" y="4983480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25 SEC</a:t>
            </a:r>
          </a:p>
        </p:txBody>
      </p:sp>
      <p:sp>
        <p:nvSpPr>
          <p:cNvPr id="13" name="same-words-test/concise-notes"/>
          <p:cNvSpPr txBox="1"/>
          <p:nvPr/>
        </p:nvSpPr>
        <p:spPr>
          <a:xfrm>
            <a:off x="8412480" y="5257800"/>
            <a:ext cx="3108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Arial"/>
              </a:rPr>
              <a:t>Do not draw a speculative Goldilocks chart as if it were measured data. Transition: the result, not preference, determines which direction earns the reveal.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cept-reveal/index-section-status"/>
          <p:cNvSpPr txBox="1"/>
          <p:nvPr/>
        </p:nvSpPr>
        <p:spPr>
          <a:xfrm>
            <a:off x="685800" y="502920"/>
            <a:ext cx="10835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66666"/>
                </a:solidFill>
                <a:latin typeface="Arial"/>
              </a:rPr>
              <a:t>07/13   SOLUTION   /   BLOCKED</a:t>
            </a:r>
          </a:p>
        </p:txBody>
      </p:sp>
      <p:sp>
        <p:nvSpPr>
          <p:cNvPr id="3" name="concept-reveal/header-rule"/>
          <p:cNvSpPr/>
          <p:nvPr/>
        </p:nvSpPr>
        <p:spPr>
          <a:xfrm>
            <a:off x="685800" y="886968"/>
            <a:ext cx="10835640" cy="1097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ncept-reveal/claim-or-blocker"/>
          <p:cNvSpPr txBox="1"/>
          <p:nvPr/>
        </p:nvSpPr>
        <p:spPr>
          <a:xfrm>
            <a:off x="685800" y="1161288"/>
            <a:ext cx="10835640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666666"/>
                </a:solidFill>
                <a:latin typeface="Arial"/>
              </a:rPr>
              <a:t>BLOCKED — missing claim; resolve the solution decision before final design.</a:t>
            </a:r>
          </a:p>
        </p:txBody>
      </p:sp>
      <p:sp>
        <p:nvSpPr>
          <p:cNvPr id="5" name="concept-reveal/takeaway-label"/>
          <p:cNvSpPr txBox="1"/>
          <p:nvPr/>
        </p:nvSpPr>
        <p:spPr>
          <a:xfrm>
            <a:off x="685800" y="2779776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AUDIENCE TAKEAWAY</a:t>
            </a:r>
          </a:p>
        </p:txBody>
      </p:sp>
      <p:sp>
        <p:nvSpPr>
          <p:cNvPr id="6" name="concept-reveal/audience-takeaway"/>
          <p:cNvSpPr txBox="1"/>
          <p:nvPr/>
        </p:nvSpPr>
        <p:spPr>
          <a:xfrm>
            <a:off x="685800" y="3072384"/>
            <a:ext cx="6766560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Understand the selected response and its distinct mechanism in one sentence.</a:t>
            </a:r>
          </a:p>
        </p:txBody>
      </p:sp>
      <p:sp>
        <p:nvSpPr>
          <p:cNvPr id="7" name="concept-reveal/composition-label"/>
          <p:cNvSpPr txBox="1"/>
          <p:nvPr/>
        </p:nvSpPr>
        <p:spPr>
          <a:xfrm>
            <a:off x="7909560" y="2779776"/>
            <a:ext cx="3611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COMPOSITION NOTE</a:t>
            </a:r>
          </a:p>
        </p:txBody>
      </p:sp>
      <p:sp>
        <p:nvSpPr>
          <p:cNvPr id="8" name="concept-reveal/composition-note"/>
          <p:cNvSpPr txBox="1"/>
          <p:nvPr/>
        </p:nvSpPr>
        <p:spPr>
          <a:xfrm>
            <a:off x="7909560" y="3072384"/>
            <a:ext cx="36118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Product name, one-line mechanism and one dominant product state after selection.</a:t>
            </a:r>
          </a:p>
        </p:txBody>
      </p:sp>
      <p:sp>
        <p:nvSpPr>
          <p:cNvPr id="9" name="concept-reveal/footer-rule"/>
          <p:cNvSpPr/>
          <p:nvPr/>
        </p:nvSpPr>
        <p:spPr>
          <a:xfrm>
            <a:off x="685800" y="4700016"/>
            <a:ext cx="10835640" cy="1097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ncept-reveal/evidence-label"/>
          <p:cNvSpPr txBox="1"/>
          <p:nvPr/>
        </p:nvSpPr>
        <p:spPr>
          <a:xfrm>
            <a:off x="685800" y="4983480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EVIDENCE REFS</a:t>
            </a:r>
          </a:p>
        </p:txBody>
      </p:sp>
      <p:sp>
        <p:nvSpPr>
          <p:cNvPr id="11" name="concept-reveal/evidence-refs"/>
          <p:cNvSpPr txBox="1"/>
          <p:nvPr/>
        </p:nvSpPr>
        <p:spPr>
          <a:xfrm>
            <a:off x="685800" y="5257800"/>
            <a:ext cx="7452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Arial"/>
              </a:rPr>
              <a:t>WIKI/DECISIONS.md • WIKI/IDEAS.md • WIKI/TESTS.md</a:t>
            </a:r>
          </a:p>
        </p:txBody>
      </p:sp>
      <p:sp>
        <p:nvSpPr>
          <p:cNvPr id="12" name="concept-reveal/timing"/>
          <p:cNvSpPr txBox="1"/>
          <p:nvPr/>
        </p:nvSpPr>
        <p:spPr>
          <a:xfrm>
            <a:off x="9738360" y="4983480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20 SEC</a:t>
            </a:r>
          </a:p>
        </p:txBody>
      </p:sp>
      <p:sp>
        <p:nvSpPr>
          <p:cNvPr id="13" name="concept-reveal/concise-notes"/>
          <p:cNvSpPr txBox="1"/>
          <p:nvPr/>
        </p:nvSpPr>
        <p:spPr>
          <a:xfrm>
            <a:off x="8412480" y="5257800"/>
            <a:ext cx="3108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Arial"/>
              </a:rPr>
              <a:t>A multimedia feature list is not a mechanism.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chanism-map/index-section-status"/>
          <p:cNvSpPr txBox="1"/>
          <p:nvPr/>
        </p:nvSpPr>
        <p:spPr>
          <a:xfrm>
            <a:off x="685800" y="502920"/>
            <a:ext cx="10835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66666"/>
                </a:solidFill>
                <a:latin typeface="Arial"/>
              </a:rPr>
              <a:t>08/13   SOLUTION   /   BLOCKED</a:t>
            </a:r>
          </a:p>
        </p:txBody>
      </p:sp>
      <p:sp>
        <p:nvSpPr>
          <p:cNvPr id="3" name="mechanism-map/header-rule"/>
          <p:cNvSpPr/>
          <p:nvPr/>
        </p:nvSpPr>
        <p:spPr>
          <a:xfrm>
            <a:off x="685800" y="886968"/>
            <a:ext cx="10835640" cy="1097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mechanism-map/claim-or-blocker"/>
          <p:cNvSpPr txBox="1"/>
          <p:nvPr/>
        </p:nvSpPr>
        <p:spPr>
          <a:xfrm>
            <a:off x="685800" y="1161288"/>
            <a:ext cx="10835640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666666"/>
                </a:solidFill>
                <a:latin typeface="Arial"/>
              </a:rPr>
              <a:t>BLOCKED — missing claim; resolve the solution decision before final design.</a:t>
            </a:r>
          </a:p>
        </p:txBody>
      </p:sp>
      <p:sp>
        <p:nvSpPr>
          <p:cNvPr id="5" name="mechanism-map/takeaway-label"/>
          <p:cNvSpPr txBox="1"/>
          <p:nvPr/>
        </p:nvSpPr>
        <p:spPr>
          <a:xfrm>
            <a:off x="685800" y="2779776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AUDIENCE TAKEAWAY</a:t>
            </a:r>
          </a:p>
        </p:txBody>
      </p:sp>
      <p:sp>
        <p:nvSpPr>
          <p:cNvPr id="6" name="mechanism-map/audience-takeaway"/>
          <p:cNvSpPr txBox="1"/>
          <p:nvPr/>
        </p:nvSpPr>
        <p:spPr>
          <a:xfrm>
            <a:off x="685800" y="3072384"/>
            <a:ext cx="6766560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See where the selected mechanism changes the unwritten rule from trigger to outcome.</a:t>
            </a:r>
          </a:p>
        </p:txBody>
      </p:sp>
      <p:sp>
        <p:nvSpPr>
          <p:cNvPr id="7" name="mechanism-map/composition-label"/>
          <p:cNvSpPr txBox="1"/>
          <p:nvPr/>
        </p:nvSpPr>
        <p:spPr>
          <a:xfrm>
            <a:off x="7909560" y="2779776"/>
            <a:ext cx="3611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COMPOSITION NOTE</a:t>
            </a:r>
          </a:p>
        </p:txBody>
      </p:sp>
      <p:sp>
        <p:nvSpPr>
          <p:cNvPr id="8" name="mechanism-map/composition-note"/>
          <p:cNvSpPr txBox="1"/>
          <p:nvPr/>
        </p:nvSpPr>
        <p:spPr>
          <a:xfrm>
            <a:off x="7909560" y="3072384"/>
            <a:ext cx="36118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Trigger, deliberate creation, bounded delivery, receiver-controlled opening and safe completion in one sequence.</a:t>
            </a:r>
          </a:p>
        </p:txBody>
      </p:sp>
      <p:sp>
        <p:nvSpPr>
          <p:cNvPr id="9" name="mechanism-map/footer-rule"/>
          <p:cNvSpPr/>
          <p:nvPr/>
        </p:nvSpPr>
        <p:spPr>
          <a:xfrm>
            <a:off x="685800" y="4700016"/>
            <a:ext cx="10835640" cy="1097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chanism-map/evidence-label"/>
          <p:cNvSpPr txBox="1"/>
          <p:nvPr/>
        </p:nvSpPr>
        <p:spPr>
          <a:xfrm>
            <a:off x="685800" y="4983480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EVIDENCE REFS</a:t>
            </a:r>
          </a:p>
        </p:txBody>
      </p:sp>
      <p:sp>
        <p:nvSpPr>
          <p:cNvPr id="11" name="mechanism-map/evidence-refs"/>
          <p:cNvSpPr txBox="1"/>
          <p:nvPr/>
        </p:nvSpPr>
        <p:spPr>
          <a:xfrm>
            <a:off x="685800" y="5257800"/>
            <a:ext cx="7452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Arial"/>
              </a:rPr>
              <a:t>WIKI/DECISIONS.md • WIKI/TESTS.md</a:t>
            </a:r>
          </a:p>
        </p:txBody>
      </p:sp>
      <p:sp>
        <p:nvSpPr>
          <p:cNvPr id="12" name="mechanism-map/timing"/>
          <p:cNvSpPr txBox="1"/>
          <p:nvPr/>
        </p:nvSpPr>
        <p:spPr>
          <a:xfrm>
            <a:off x="9738360" y="4983480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35 SEC</a:t>
            </a:r>
          </a:p>
        </p:txBody>
      </p:sp>
      <p:sp>
        <p:nvSpPr>
          <p:cNvPr id="13" name="mechanism-map/concise-notes"/>
          <p:cNvSpPr txBox="1"/>
          <p:nvPr/>
        </p:nvSpPr>
        <p:spPr>
          <a:xfrm>
            <a:off x="8412480" y="5257800"/>
            <a:ext cx="3108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Arial"/>
              </a:rPr>
              <a:t>Label every simulated or proposed state.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nder-demo/index-section-status"/>
          <p:cNvSpPr txBox="1"/>
          <p:nvPr/>
        </p:nvSpPr>
        <p:spPr>
          <a:xfrm>
            <a:off x="685800" y="502920"/>
            <a:ext cx="10835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66666"/>
                </a:solidFill>
                <a:latin typeface="Arial"/>
              </a:rPr>
              <a:t>09/13   DEMO   /   BLOCKED</a:t>
            </a:r>
          </a:p>
        </p:txBody>
      </p:sp>
      <p:sp>
        <p:nvSpPr>
          <p:cNvPr id="3" name="sender-demo/header-rule"/>
          <p:cNvSpPr/>
          <p:nvPr/>
        </p:nvSpPr>
        <p:spPr>
          <a:xfrm>
            <a:off x="685800" y="886968"/>
            <a:ext cx="10835640" cy="1097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nder-demo/claim-or-blocker"/>
          <p:cNvSpPr txBox="1"/>
          <p:nvPr/>
        </p:nvSpPr>
        <p:spPr>
          <a:xfrm>
            <a:off x="685800" y="1161288"/>
            <a:ext cx="10835640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666666"/>
                </a:solidFill>
                <a:latin typeface="Arial"/>
              </a:rPr>
              <a:t>BLOCKED — missing claim; resolve the demo decision before final design.</a:t>
            </a:r>
          </a:p>
        </p:txBody>
      </p:sp>
      <p:sp>
        <p:nvSpPr>
          <p:cNvPr id="5" name="sender-demo/takeaway-label"/>
          <p:cNvSpPr txBox="1"/>
          <p:nvPr/>
        </p:nvSpPr>
        <p:spPr>
          <a:xfrm>
            <a:off x="685800" y="2779776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AUDIENCE TAKEAWAY</a:t>
            </a:r>
          </a:p>
        </p:txBody>
      </p:sp>
      <p:sp>
        <p:nvSpPr>
          <p:cNvPr id="6" name="sender-demo/audience-takeaway"/>
          <p:cNvSpPr txBox="1"/>
          <p:nvPr/>
        </p:nvSpPr>
        <p:spPr>
          <a:xfrm>
            <a:off x="685800" y="3072384"/>
            <a:ext cx="6766560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See why the sender acts now and what remains personally authored.</a:t>
            </a:r>
          </a:p>
        </p:txBody>
      </p:sp>
      <p:sp>
        <p:nvSpPr>
          <p:cNvPr id="7" name="sender-demo/composition-label"/>
          <p:cNvSpPr txBox="1"/>
          <p:nvPr/>
        </p:nvSpPr>
        <p:spPr>
          <a:xfrm>
            <a:off x="7909560" y="2779776"/>
            <a:ext cx="3611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COMPOSITION NOTE</a:t>
            </a:r>
          </a:p>
        </p:txBody>
      </p:sp>
      <p:sp>
        <p:nvSpPr>
          <p:cNvPr id="8" name="sender-demo/composition-note"/>
          <p:cNvSpPr txBox="1"/>
          <p:nvPr/>
        </p:nvSpPr>
        <p:spPr>
          <a:xfrm>
            <a:off x="7909560" y="3072384"/>
            <a:ext cx="36118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One sender path from trigger through deliberate authorship; no feature tour.</a:t>
            </a:r>
          </a:p>
        </p:txBody>
      </p:sp>
      <p:sp>
        <p:nvSpPr>
          <p:cNvPr id="9" name="sender-demo/footer-rule"/>
          <p:cNvSpPr/>
          <p:nvPr/>
        </p:nvSpPr>
        <p:spPr>
          <a:xfrm>
            <a:off x="685800" y="4700016"/>
            <a:ext cx="10835640" cy="1097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ender-demo/evidence-label"/>
          <p:cNvSpPr txBox="1"/>
          <p:nvPr/>
        </p:nvSpPr>
        <p:spPr>
          <a:xfrm>
            <a:off x="685800" y="4983480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EVIDENCE REFS</a:t>
            </a:r>
          </a:p>
        </p:txBody>
      </p:sp>
      <p:sp>
        <p:nvSpPr>
          <p:cNvPr id="11" name="sender-demo/evidence-refs"/>
          <p:cNvSpPr txBox="1"/>
          <p:nvPr/>
        </p:nvSpPr>
        <p:spPr>
          <a:xfrm>
            <a:off x="685800" y="5257800"/>
            <a:ext cx="7452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Arial"/>
              </a:rPr>
              <a:t>WIKI/DECISIONS.md • WIKI/TESTS.md</a:t>
            </a:r>
          </a:p>
        </p:txBody>
      </p:sp>
      <p:sp>
        <p:nvSpPr>
          <p:cNvPr id="12" name="sender-demo/timing"/>
          <p:cNvSpPr txBox="1"/>
          <p:nvPr/>
        </p:nvSpPr>
        <p:spPr>
          <a:xfrm>
            <a:off x="9738360" y="4983480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35 SEC</a:t>
            </a:r>
          </a:p>
        </p:txBody>
      </p:sp>
      <p:sp>
        <p:nvSpPr>
          <p:cNvPr id="13" name="sender-demo/concise-notes"/>
          <p:cNvSpPr txBox="1"/>
          <p:nvPr/>
        </p:nvSpPr>
        <p:spPr>
          <a:xfrm>
            <a:off x="8412480" y="5257800"/>
            <a:ext cx="3108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Arial"/>
              </a:rPr>
              <a:t>Show that AI does not write the intimate content.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eiver-demo/index-section-status"/>
          <p:cNvSpPr txBox="1"/>
          <p:nvPr/>
        </p:nvSpPr>
        <p:spPr>
          <a:xfrm>
            <a:off x="685800" y="502920"/>
            <a:ext cx="10835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66666"/>
                </a:solidFill>
                <a:latin typeface="Arial"/>
              </a:rPr>
              <a:t>10/13   DEMO   /   BLOCKED</a:t>
            </a:r>
          </a:p>
        </p:txBody>
      </p:sp>
      <p:sp>
        <p:nvSpPr>
          <p:cNvPr id="3" name="receiver-demo/header-rule"/>
          <p:cNvSpPr/>
          <p:nvPr/>
        </p:nvSpPr>
        <p:spPr>
          <a:xfrm>
            <a:off x="685800" y="886968"/>
            <a:ext cx="10835640" cy="1097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eiver-demo/claim-or-blocker"/>
          <p:cNvSpPr txBox="1"/>
          <p:nvPr/>
        </p:nvSpPr>
        <p:spPr>
          <a:xfrm>
            <a:off x="685800" y="1161288"/>
            <a:ext cx="10835640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666666"/>
                </a:solidFill>
                <a:latin typeface="Arial"/>
              </a:rPr>
              <a:t>BLOCKED — missing claim; resolve the demo decision before final design.</a:t>
            </a:r>
          </a:p>
        </p:txBody>
      </p:sp>
      <p:sp>
        <p:nvSpPr>
          <p:cNvPr id="5" name="receiver-demo/takeaway-label"/>
          <p:cNvSpPr txBox="1"/>
          <p:nvPr/>
        </p:nvSpPr>
        <p:spPr>
          <a:xfrm>
            <a:off x="685800" y="2779776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AUDIENCE TAKEAWAY</a:t>
            </a:r>
          </a:p>
        </p:txBody>
      </p:sp>
      <p:sp>
        <p:nvSpPr>
          <p:cNvPr id="6" name="receiver-demo/audience-takeaway"/>
          <p:cNvSpPr txBox="1"/>
          <p:nvPr/>
        </p:nvSpPr>
        <p:spPr>
          <a:xfrm>
            <a:off x="685800" y="3072384"/>
            <a:ext cx="6766560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See the receiver interpret, open, keep or close the experience without compulsory reciprocity.</a:t>
            </a:r>
          </a:p>
        </p:txBody>
      </p:sp>
      <p:sp>
        <p:nvSpPr>
          <p:cNvPr id="7" name="receiver-demo/composition-label"/>
          <p:cNvSpPr txBox="1"/>
          <p:nvPr/>
        </p:nvSpPr>
        <p:spPr>
          <a:xfrm>
            <a:off x="7909560" y="2779776"/>
            <a:ext cx="3611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COMPOSITION NOTE</a:t>
            </a:r>
          </a:p>
        </p:txBody>
      </p:sp>
      <p:sp>
        <p:nvSpPr>
          <p:cNvPr id="8" name="receiver-demo/composition-note"/>
          <p:cNvSpPr txBox="1"/>
          <p:nvPr/>
        </p:nvSpPr>
        <p:spPr>
          <a:xfrm>
            <a:off x="7909560" y="3072384"/>
            <a:ext cx="36118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One receiver path from arrival through opening and safe completion; concentrate any justified reveal here.</a:t>
            </a:r>
          </a:p>
        </p:txBody>
      </p:sp>
      <p:sp>
        <p:nvSpPr>
          <p:cNvPr id="9" name="receiver-demo/footer-rule"/>
          <p:cNvSpPr/>
          <p:nvPr/>
        </p:nvSpPr>
        <p:spPr>
          <a:xfrm>
            <a:off x="685800" y="4700016"/>
            <a:ext cx="10835640" cy="1097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eiver-demo/evidence-label"/>
          <p:cNvSpPr txBox="1"/>
          <p:nvPr/>
        </p:nvSpPr>
        <p:spPr>
          <a:xfrm>
            <a:off x="685800" y="4983480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EVIDENCE REFS</a:t>
            </a:r>
          </a:p>
        </p:txBody>
      </p:sp>
      <p:sp>
        <p:nvSpPr>
          <p:cNvPr id="11" name="receiver-demo/evidence-refs"/>
          <p:cNvSpPr txBox="1"/>
          <p:nvPr/>
        </p:nvSpPr>
        <p:spPr>
          <a:xfrm>
            <a:off x="685800" y="5257800"/>
            <a:ext cx="7452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Arial"/>
              </a:rPr>
              <a:t>WIKI/DECISIONS.md • WIKI/TESTS.md</a:t>
            </a:r>
          </a:p>
        </p:txBody>
      </p:sp>
      <p:sp>
        <p:nvSpPr>
          <p:cNvPr id="12" name="receiver-demo/timing"/>
          <p:cNvSpPr txBox="1"/>
          <p:nvPr/>
        </p:nvSpPr>
        <p:spPr>
          <a:xfrm>
            <a:off x="9738360" y="4983480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35 SEC</a:t>
            </a:r>
          </a:p>
        </p:txBody>
      </p:sp>
      <p:sp>
        <p:nvSpPr>
          <p:cNvPr id="13" name="receiver-demo/concise-notes"/>
          <p:cNvSpPr txBox="1"/>
          <p:nvPr/>
        </p:nvSpPr>
        <p:spPr>
          <a:xfrm>
            <a:off x="8412480" y="5257800"/>
            <a:ext cx="3108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Arial"/>
              </a:rPr>
              <a:t>A rich reveal must explain value, not substitute spectacle for evidence.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rust-and-recovery/index-section-status"/>
          <p:cNvSpPr txBox="1"/>
          <p:nvPr/>
        </p:nvSpPr>
        <p:spPr>
          <a:xfrm>
            <a:off x="685800" y="502920"/>
            <a:ext cx="10835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66666"/>
                </a:solidFill>
                <a:latin typeface="Arial"/>
              </a:rPr>
              <a:t>11/13   TRUST   /   BLOCKED</a:t>
            </a:r>
          </a:p>
        </p:txBody>
      </p:sp>
      <p:sp>
        <p:nvSpPr>
          <p:cNvPr id="3" name="trust-and-recovery/header-rule"/>
          <p:cNvSpPr/>
          <p:nvPr/>
        </p:nvSpPr>
        <p:spPr>
          <a:xfrm>
            <a:off x="685800" y="886968"/>
            <a:ext cx="10835640" cy="1097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rust-and-recovery/claim-or-blocker"/>
          <p:cNvSpPr txBox="1"/>
          <p:nvPr/>
        </p:nvSpPr>
        <p:spPr>
          <a:xfrm>
            <a:off x="685800" y="1161288"/>
            <a:ext cx="10835640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666666"/>
                </a:solidFill>
                <a:latin typeface="Arial"/>
              </a:rPr>
              <a:t>BLOCKED — missing claim; resolve the trust decision before final design.</a:t>
            </a:r>
          </a:p>
        </p:txBody>
      </p:sp>
      <p:sp>
        <p:nvSpPr>
          <p:cNvPr id="5" name="trust-and-recovery/takeaway-label"/>
          <p:cNvSpPr txBox="1"/>
          <p:nvPr/>
        </p:nvSpPr>
        <p:spPr>
          <a:xfrm>
            <a:off x="685800" y="2779776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AUDIENCE TAKEAWAY</a:t>
            </a:r>
          </a:p>
        </p:txBody>
      </p:sp>
      <p:sp>
        <p:nvSpPr>
          <p:cNvPr id="6" name="trust-and-recovery/audience-takeaway"/>
          <p:cNvSpPr txBox="1"/>
          <p:nvPr/>
        </p:nvSpPr>
        <p:spPr>
          <a:xfrm>
            <a:off x="685800" y="3072384"/>
            <a:ext cx="6766560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Believe that the experience handles unwanted, mistaken, inaccessible or private moments safely.</a:t>
            </a:r>
          </a:p>
        </p:txBody>
      </p:sp>
      <p:sp>
        <p:nvSpPr>
          <p:cNvPr id="7" name="trust-and-recovery/composition-label"/>
          <p:cNvSpPr txBox="1"/>
          <p:nvPr/>
        </p:nvSpPr>
        <p:spPr>
          <a:xfrm>
            <a:off x="7909560" y="2779776"/>
            <a:ext cx="3611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COMPOSITION NOTE</a:t>
            </a:r>
          </a:p>
        </p:txBody>
      </p:sp>
      <p:sp>
        <p:nvSpPr>
          <p:cNvPr id="8" name="trust-and-recovery/composition-note"/>
          <p:cNvSpPr txBox="1"/>
          <p:nvPr/>
        </p:nvSpPr>
        <p:spPr>
          <a:xfrm>
            <a:off x="7909560" y="3072384"/>
            <a:ext cx="36118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The smallest set of real product states covering decline, delete, wrong recipient, privacy, reduced motion and no-device access.</a:t>
            </a:r>
          </a:p>
        </p:txBody>
      </p:sp>
      <p:sp>
        <p:nvSpPr>
          <p:cNvPr id="9" name="trust-and-recovery/footer-rule"/>
          <p:cNvSpPr/>
          <p:nvPr/>
        </p:nvSpPr>
        <p:spPr>
          <a:xfrm>
            <a:off x="685800" y="4700016"/>
            <a:ext cx="10835640" cy="1097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rust-and-recovery/evidence-label"/>
          <p:cNvSpPr txBox="1"/>
          <p:nvPr/>
        </p:nvSpPr>
        <p:spPr>
          <a:xfrm>
            <a:off x="685800" y="4983480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EVIDENCE REFS</a:t>
            </a:r>
          </a:p>
        </p:txBody>
      </p:sp>
      <p:sp>
        <p:nvSpPr>
          <p:cNvPr id="11" name="trust-and-recovery/evidence-refs"/>
          <p:cNvSpPr txBox="1"/>
          <p:nvPr/>
        </p:nvSpPr>
        <p:spPr>
          <a:xfrm>
            <a:off x="685800" y="5257800"/>
            <a:ext cx="7452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Arial"/>
              </a:rPr>
              <a:t>WIKI/JUDGING.md • WIKI/FRIENDSHIP_APPRECIATION_DOSSIER.md</a:t>
            </a:r>
          </a:p>
        </p:txBody>
      </p:sp>
      <p:sp>
        <p:nvSpPr>
          <p:cNvPr id="12" name="trust-and-recovery/timing"/>
          <p:cNvSpPr txBox="1"/>
          <p:nvPr/>
        </p:nvSpPr>
        <p:spPr>
          <a:xfrm>
            <a:off x="9738360" y="4983480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30 SEC</a:t>
            </a:r>
          </a:p>
        </p:txBody>
      </p:sp>
      <p:sp>
        <p:nvSpPr>
          <p:cNvPr id="13" name="trust-and-recovery/concise-notes"/>
          <p:cNvSpPr txBox="1"/>
          <p:nvPr/>
        </p:nvSpPr>
        <p:spPr>
          <a:xfrm>
            <a:off x="8412480" y="5257800"/>
            <a:ext cx="3108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Arial"/>
              </a:rPr>
              <a:t>Do not describe safeguards that the prototype does not demonstrate.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st-to-change/index-section-status"/>
          <p:cNvSpPr txBox="1"/>
          <p:nvPr/>
        </p:nvSpPr>
        <p:spPr>
          <a:xfrm>
            <a:off x="685800" y="502920"/>
            <a:ext cx="10835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66666"/>
                </a:solidFill>
                <a:latin typeface="Arial"/>
              </a:rPr>
              <a:t>12/13   PROOF   /   BLOCKED</a:t>
            </a:r>
          </a:p>
        </p:txBody>
      </p:sp>
      <p:sp>
        <p:nvSpPr>
          <p:cNvPr id="3" name="test-to-change/header-rule"/>
          <p:cNvSpPr/>
          <p:nvPr/>
        </p:nvSpPr>
        <p:spPr>
          <a:xfrm>
            <a:off x="685800" y="886968"/>
            <a:ext cx="10835640" cy="1097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st-to-change/claim-or-blocker"/>
          <p:cNvSpPr txBox="1"/>
          <p:nvPr/>
        </p:nvSpPr>
        <p:spPr>
          <a:xfrm>
            <a:off x="685800" y="1161288"/>
            <a:ext cx="10835640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666666"/>
                </a:solidFill>
                <a:latin typeface="Arial"/>
              </a:rPr>
              <a:t>BLOCKED — missing claim; resolve the proof decision before final design.</a:t>
            </a:r>
          </a:p>
        </p:txBody>
      </p:sp>
      <p:sp>
        <p:nvSpPr>
          <p:cNvPr id="5" name="test-to-change/takeaway-label"/>
          <p:cNvSpPr txBox="1"/>
          <p:nvPr/>
        </p:nvSpPr>
        <p:spPr>
          <a:xfrm>
            <a:off x="685800" y="2779776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AUDIENCE TAKEAWAY</a:t>
            </a:r>
          </a:p>
        </p:txBody>
      </p:sp>
      <p:sp>
        <p:nvSpPr>
          <p:cNvPr id="6" name="test-to-change/audience-takeaway"/>
          <p:cNvSpPr txBox="1"/>
          <p:nvPr/>
        </p:nvSpPr>
        <p:spPr>
          <a:xfrm>
            <a:off x="685800" y="3072384"/>
            <a:ext cx="6766560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See one participant finding change the design and understand the remaining evidence boundary.</a:t>
            </a:r>
          </a:p>
        </p:txBody>
      </p:sp>
      <p:sp>
        <p:nvSpPr>
          <p:cNvPr id="7" name="test-to-change/composition-label"/>
          <p:cNvSpPr txBox="1"/>
          <p:nvPr/>
        </p:nvSpPr>
        <p:spPr>
          <a:xfrm>
            <a:off x="7909560" y="2779776"/>
            <a:ext cx="3611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COMPOSITION NOTE</a:t>
            </a:r>
          </a:p>
        </p:txBody>
      </p:sp>
      <p:sp>
        <p:nvSpPr>
          <p:cNvPr id="8" name="test-to-change/composition-note"/>
          <p:cNvSpPr txBox="1"/>
          <p:nvPr/>
        </p:nvSpPr>
        <p:spPr>
          <a:xfrm>
            <a:off x="7909560" y="3072384"/>
            <a:ext cx="36118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Participant finding, before state, after state and observed effect kept adjacent.</a:t>
            </a:r>
          </a:p>
        </p:txBody>
      </p:sp>
      <p:sp>
        <p:nvSpPr>
          <p:cNvPr id="9" name="test-to-change/footer-rule"/>
          <p:cNvSpPr/>
          <p:nvPr/>
        </p:nvSpPr>
        <p:spPr>
          <a:xfrm>
            <a:off x="685800" y="4700016"/>
            <a:ext cx="10835640" cy="1097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st-to-change/evidence-label"/>
          <p:cNvSpPr txBox="1"/>
          <p:nvPr/>
        </p:nvSpPr>
        <p:spPr>
          <a:xfrm>
            <a:off x="685800" y="4983480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EVIDENCE REFS</a:t>
            </a:r>
          </a:p>
        </p:txBody>
      </p:sp>
      <p:sp>
        <p:nvSpPr>
          <p:cNvPr id="11" name="test-to-change/evidence-refs"/>
          <p:cNvSpPr txBox="1"/>
          <p:nvPr/>
        </p:nvSpPr>
        <p:spPr>
          <a:xfrm>
            <a:off x="685800" y="5257800"/>
            <a:ext cx="7452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Arial"/>
              </a:rPr>
              <a:t>WIKI/TESTS.md</a:t>
            </a:r>
          </a:p>
        </p:txBody>
      </p:sp>
      <p:sp>
        <p:nvSpPr>
          <p:cNvPr id="12" name="test-to-change/timing"/>
          <p:cNvSpPr txBox="1"/>
          <p:nvPr/>
        </p:nvSpPr>
        <p:spPr>
          <a:xfrm>
            <a:off x="9738360" y="4983480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25 SEC</a:t>
            </a:r>
          </a:p>
        </p:txBody>
      </p:sp>
      <p:sp>
        <p:nvSpPr>
          <p:cNvPr id="13" name="test-to-change/concise-notes"/>
          <p:cNvSpPr txBox="1"/>
          <p:nvPr/>
        </p:nvSpPr>
        <p:spPr>
          <a:xfrm>
            <a:off x="8412480" y="5257800"/>
            <a:ext cx="3108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Arial"/>
              </a:rPr>
              <a:t>No invented quote, number, score or effect.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llback-close/index-section-status"/>
          <p:cNvSpPr txBox="1"/>
          <p:nvPr/>
        </p:nvSpPr>
        <p:spPr>
          <a:xfrm>
            <a:off x="685800" y="502920"/>
            <a:ext cx="10835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66666"/>
                </a:solidFill>
                <a:latin typeface="Arial"/>
              </a:rPr>
              <a:t>13/13   CLOSE   /   BLOCKED</a:t>
            </a:r>
          </a:p>
        </p:txBody>
      </p:sp>
      <p:sp>
        <p:nvSpPr>
          <p:cNvPr id="3" name="callback-close/header-rule"/>
          <p:cNvSpPr/>
          <p:nvPr/>
        </p:nvSpPr>
        <p:spPr>
          <a:xfrm>
            <a:off x="685800" y="886968"/>
            <a:ext cx="10835640" cy="1097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llback-close/claim-or-blocker"/>
          <p:cNvSpPr txBox="1"/>
          <p:nvPr/>
        </p:nvSpPr>
        <p:spPr>
          <a:xfrm>
            <a:off x="685800" y="1161288"/>
            <a:ext cx="10835640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666666"/>
                </a:solidFill>
                <a:latin typeface="Arial"/>
              </a:rPr>
              <a:t>BLOCKED — missing claim; resolve the close decision before final design.</a:t>
            </a:r>
          </a:p>
        </p:txBody>
      </p:sp>
      <p:sp>
        <p:nvSpPr>
          <p:cNvPr id="5" name="callback-close/takeaway-label"/>
          <p:cNvSpPr txBox="1"/>
          <p:nvPr/>
        </p:nvSpPr>
        <p:spPr>
          <a:xfrm>
            <a:off x="685800" y="2779776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AUDIENCE TAKEAWAY</a:t>
            </a:r>
          </a:p>
        </p:txBody>
      </p:sp>
      <p:sp>
        <p:nvSpPr>
          <p:cNvPr id="6" name="callback-close/audience-takeaway"/>
          <p:cNvSpPr txBox="1"/>
          <p:nvPr/>
        </p:nvSpPr>
        <p:spPr>
          <a:xfrm>
            <a:off x="685800" y="3072384"/>
            <a:ext cx="6766560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Remember the changed social contract and experience the final flow without being pressured to participate.</a:t>
            </a:r>
          </a:p>
        </p:txBody>
      </p:sp>
      <p:sp>
        <p:nvSpPr>
          <p:cNvPr id="7" name="callback-close/composition-label"/>
          <p:cNvSpPr txBox="1"/>
          <p:nvPr/>
        </p:nvSpPr>
        <p:spPr>
          <a:xfrm>
            <a:off x="7909560" y="2779776"/>
            <a:ext cx="3611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COMPOSITION NOTE</a:t>
            </a:r>
          </a:p>
        </p:txBody>
      </p:sp>
      <p:sp>
        <p:nvSpPr>
          <p:cNvPr id="8" name="callback-close/composition-note"/>
          <p:cNvSpPr txBox="1"/>
          <p:nvPr/>
        </p:nvSpPr>
        <p:spPr>
          <a:xfrm>
            <a:off x="7909560" y="3072384"/>
            <a:ext cx="36118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Return to the opening person and sentence; optional generic QR plus an equally visible no-device route.</a:t>
            </a:r>
          </a:p>
        </p:txBody>
      </p:sp>
      <p:sp>
        <p:nvSpPr>
          <p:cNvPr id="9" name="callback-close/footer-rule"/>
          <p:cNvSpPr/>
          <p:nvPr/>
        </p:nvSpPr>
        <p:spPr>
          <a:xfrm>
            <a:off x="685800" y="4700016"/>
            <a:ext cx="10835640" cy="1097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llback-close/evidence-label"/>
          <p:cNvSpPr txBox="1"/>
          <p:nvPr/>
        </p:nvSpPr>
        <p:spPr>
          <a:xfrm>
            <a:off x="685800" y="4983480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EVIDENCE REFS</a:t>
            </a:r>
          </a:p>
        </p:txBody>
      </p:sp>
      <p:sp>
        <p:nvSpPr>
          <p:cNvPr id="11" name="callback-close/evidence-refs"/>
          <p:cNvSpPr txBox="1"/>
          <p:nvPr/>
        </p:nvSpPr>
        <p:spPr>
          <a:xfrm>
            <a:off x="685800" y="5257800"/>
            <a:ext cx="7452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Arial"/>
              </a:rPr>
              <a:t>WIKI/BRIEF.md • WIKI/DECISIONS.md • WIKI/TESTS.md</a:t>
            </a:r>
          </a:p>
        </p:txBody>
      </p:sp>
      <p:sp>
        <p:nvSpPr>
          <p:cNvPr id="12" name="callback-close/timing"/>
          <p:cNvSpPr txBox="1"/>
          <p:nvPr/>
        </p:nvSpPr>
        <p:spPr>
          <a:xfrm>
            <a:off x="9738360" y="4983480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25 SEC</a:t>
            </a:r>
          </a:p>
        </p:txBody>
      </p:sp>
      <p:sp>
        <p:nvSpPr>
          <p:cNvPr id="13" name="callback-close/concise-notes"/>
          <p:cNvSpPr txBox="1"/>
          <p:nvPr/>
        </p:nvSpPr>
        <p:spPr>
          <a:xfrm>
            <a:off x="8412480" y="5257800"/>
            <a:ext cx="3108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Arial"/>
              </a:rPr>
              <a:t>The audience reveal demonstrates the flow; it is not impact evidence. Do not personalise from judge research or require a reply.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